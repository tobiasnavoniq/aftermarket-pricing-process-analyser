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Aftermarket Parts Pricing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Waterfall Framework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00400"/>
            <a:ext cx="393192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Process → KPI Linkage | BMW Group Aftersales | CA-250 / CA-251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ThinkCell Import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Vistex Advisory Work Product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Parts Pricing — KPI Waterfall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09760" y="73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→ KPI Linkage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768096"/>
            <a:ext cx="1572768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73936" y="1097280"/>
            <a:ext cx="36576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768096"/>
            <a:ext cx="1572768" cy="749808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10512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36576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768096"/>
            <a:ext cx="157276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9856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94176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92624" y="1097280"/>
            <a:ext cx="36576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768096"/>
            <a:ext cx="1572768" cy="749808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01968" y="1097280"/>
            <a:ext cx="36576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8544" y="768096"/>
            <a:ext cx="1572768" cy="749808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38544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11312" y="1097280"/>
            <a:ext cx="36576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768096"/>
            <a:ext cx="1572768" cy="749808"/>
          </a:xfrm>
          <a:prstGeom prst="rect">
            <a:avLst/>
          </a:prstGeom>
          <a:solidFill>
            <a:srgbClr val="7CB9E4"/>
          </a:solidFill>
          <a:ln w="12700">
            <a:solidFill>
              <a:srgbClr val="7CB9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47888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22208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/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20656" y="1097280"/>
            <a:ext cx="36576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57232" y="768096"/>
            <a:ext cx="1572768" cy="749808"/>
          </a:xfrm>
          <a:prstGeom prst="rect">
            <a:avLst/>
          </a:prstGeom>
          <a:solidFill>
            <a:srgbClr val="A8D3F0"/>
          </a:solidFill>
          <a:ln w="12700">
            <a:solidFill>
              <a:srgbClr val="A8D3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57232" y="768096"/>
            <a:ext cx="256032" cy="7498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57232" y="76809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131552" y="76809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" y="1517904"/>
            <a:ext cx="11759184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" y="1609344"/>
            <a:ext cx="1572768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Ex-Factory Cost / RET Ratio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65176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÷ RET × 100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65176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for all prices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46888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Coverage %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5176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÷ Total Cost × 100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5176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&gt;100% always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246888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Change Δ Alert Rate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65176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Parts with cost Δ &gt; threshold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65176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repricing worklist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246888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Charge Recovery Rate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65176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3464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charges collected ÷ Eligible parts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65176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track returnable parts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810512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810512" y="1609344"/>
            <a:ext cx="1572768" cy="54864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74520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Price Index (CPI)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4520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92808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Price ÷ Best IAM Price × 100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874520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&gt;130: captive; &lt;110: at risk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1856232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74520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 to IAM %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874520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92808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IAM) ÷ IAM × 100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874520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premium: 30–50% typical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1856232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74520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Exclusivity Rate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874520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92808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parts ÷ Total portfolio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874520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pricing power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856232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74520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Movement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874520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92808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IAM price vs. prior period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874520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market alerts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3419856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3419856" y="1609344"/>
            <a:ext cx="1572768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83864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Willingness-to-Pay Index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483864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02152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÷ Vehicle residual value segment avg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3483864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segmentation driver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3465576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83864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Coverage Rate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483864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02152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assigned ÷ Total active parts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3483864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3465576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83864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Accuracy Score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483864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02152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correctly segmented (audit sample)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3483864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price proposal quality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3465576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83864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Allocation Hit Rate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483864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502152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Auto-allocated ÷ Total new parts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3483864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&gt;80%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5029200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5029200" y="1609344"/>
            <a:ext cx="1572768" cy="54864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93208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% (CM%)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093208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11496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VarCost) ÷ RET × 100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5093208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profitability KPI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5074920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93208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 (GP%)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093208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111496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ExFactory) ÷ RET × 100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5093208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&gt;30% for OEM parts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5074920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93208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Parts Pricing Cycle Time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093208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111496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seconds per new part workflow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5093208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target: &lt;30 seconds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5074920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93208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Pass-Through Rate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5093208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11496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applied ÷ Markets notified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5093208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compensation KPI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5074920" y="3950208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93208" y="396849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Threshold Violation Rate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5093208" y="4206240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11496" y="4206240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below min CM ÷ Total parts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5093208" y="4398264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target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6638544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6638544" y="1609344"/>
            <a:ext cx="1572768" cy="54864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702552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Dealer Margin %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702552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720840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(MRP − MDN) ÷ MRP × 100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6702552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support dealer viability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6684264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702552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Customer Discount %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702552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720840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− Special Price ÷ List × 100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6702552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customer group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6684264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702552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Rate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6702552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720840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priced ÷ Total market parts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6702552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= structure misfit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6684264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702552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4-Eyes Approval Compliance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702552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720840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via workflow ÷ All threshold changes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6702552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</a:t>
            </a:r>
            <a:endParaRPr lang="en-US" sz="600" dirty="0"/>
          </a:p>
        </p:txBody>
      </p:sp>
      <p:sp>
        <p:nvSpPr>
          <p:cNvPr id="150" name="Shape 148"/>
          <p:cNvSpPr/>
          <p:nvPr/>
        </p:nvSpPr>
        <p:spPr>
          <a:xfrm>
            <a:off x="8247888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1" name="Shape 149"/>
          <p:cNvSpPr/>
          <p:nvPr/>
        </p:nvSpPr>
        <p:spPr>
          <a:xfrm>
            <a:off x="8247888" y="1609344"/>
            <a:ext cx="1572768" cy="54864"/>
          </a:xfrm>
          <a:prstGeom prst="rect">
            <a:avLst/>
          </a:prstGeom>
          <a:solidFill>
            <a:srgbClr val="7CB9E4"/>
          </a:solidFill>
          <a:ln w="12700">
            <a:solidFill>
              <a:srgbClr val="7CB9E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311896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Retail Price (MRP)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8311896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330184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Price × Retail Factor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8311896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 output KPI</a:t>
            </a:r>
            <a:endParaRPr lang="en-US" sz="600" dirty="0"/>
          </a:p>
        </p:txBody>
      </p:sp>
      <p:sp>
        <p:nvSpPr>
          <p:cNvPr id="156" name="Shape 154"/>
          <p:cNvSpPr/>
          <p:nvPr/>
        </p:nvSpPr>
        <p:spPr>
          <a:xfrm>
            <a:off x="8293608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311896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 Gross Profit Floor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8311896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330184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(MRP − MDN) ÷ MRP &gt; min threshold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8311896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 in PRIMUS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8293608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311896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Upload Error Rate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8311896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8330184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 ÷ Total uploaded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8311896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&lt;1%</a:t>
            </a:r>
            <a:endParaRPr lang="en-US" sz="600" dirty="0"/>
          </a:p>
        </p:txBody>
      </p:sp>
      <p:sp>
        <p:nvSpPr>
          <p:cNvPr id="166" name="Shape 164"/>
          <p:cNvSpPr/>
          <p:nvPr/>
        </p:nvSpPr>
        <p:spPr>
          <a:xfrm>
            <a:off x="8293608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311896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Activation Lead Time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8311896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330184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price approved → live in market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8311896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same day</a:t>
            </a:r>
            <a:endParaRPr lang="en-US" sz="600" dirty="0"/>
          </a:p>
        </p:txBody>
      </p:sp>
      <p:sp>
        <p:nvSpPr>
          <p:cNvPr id="171" name="Shape 169"/>
          <p:cNvSpPr/>
          <p:nvPr/>
        </p:nvSpPr>
        <p:spPr>
          <a:xfrm>
            <a:off x="8293608" y="3950208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311896" y="396849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Lag Impact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8311896" y="4206240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8330184" y="4206240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Δ from unupdated FX rates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8311896" y="4398264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vs local currency risk</a:t>
            </a:r>
            <a:endParaRPr lang="en-US" sz="600" dirty="0"/>
          </a:p>
        </p:txBody>
      </p:sp>
      <p:sp>
        <p:nvSpPr>
          <p:cNvPr id="176" name="Shape 174"/>
          <p:cNvSpPr/>
          <p:nvPr/>
        </p:nvSpPr>
        <p:spPr>
          <a:xfrm>
            <a:off x="9857232" y="1609344"/>
            <a:ext cx="157276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7" name="Shape 175"/>
          <p:cNvSpPr/>
          <p:nvPr/>
        </p:nvSpPr>
        <p:spPr>
          <a:xfrm>
            <a:off x="9857232" y="1609344"/>
            <a:ext cx="1572768" cy="54864"/>
          </a:xfrm>
          <a:prstGeom prst="rect">
            <a:avLst/>
          </a:prstGeom>
          <a:solidFill>
            <a:srgbClr val="A8D3F0"/>
          </a:solidFill>
          <a:ln w="12700">
            <a:solidFill>
              <a:srgbClr val="A8D3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921240" y="17007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Clearance Rate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9921240" y="1938528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939528" y="193852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items ÷ Total worklist items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9921240" y="2130552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 KPI</a:t>
            </a:r>
            <a:endParaRPr lang="en-US" sz="600" dirty="0"/>
          </a:p>
        </p:txBody>
      </p:sp>
      <p:sp>
        <p:nvSpPr>
          <p:cNvPr id="182" name="Shape 180"/>
          <p:cNvSpPr/>
          <p:nvPr/>
        </p:nvSpPr>
        <p:spPr>
          <a:xfrm>
            <a:off x="9902952" y="2249424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921240" y="2267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Revenue %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9921240" y="2505456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9939528" y="2505456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revenue ÷ Total BMW revenue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9921240" y="269748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Strategic: target 25–30%</a:t>
            </a:r>
            <a:endParaRPr lang="en-US" sz="600" dirty="0"/>
          </a:p>
        </p:txBody>
      </p:sp>
      <p:sp>
        <p:nvSpPr>
          <p:cNvPr id="187" name="Shape 185"/>
          <p:cNvSpPr/>
          <p:nvPr/>
        </p:nvSpPr>
        <p:spPr>
          <a:xfrm>
            <a:off x="9902952" y="2816352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921240" y="28346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— Aftersales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9921240" y="3072384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939528" y="30723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EBIT ÷ Aftersales Revenue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9921240" y="326440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~25% (McKinsey)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9902952" y="3383280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9921240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Market Share Capture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9921240" y="3639312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939528" y="363931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parts revenue ÷ Total repair spend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9921240" y="38313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Competitiveness indicator</a:t>
            </a:r>
            <a:endParaRPr lang="en-US" sz="600" dirty="0"/>
          </a:p>
        </p:txBody>
      </p:sp>
      <p:sp>
        <p:nvSpPr>
          <p:cNvPr id="197" name="Shape 195"/>
          <p:cNvSpPr/>
          <p:nvPr/>
        </p:nvSpPr>
        <p:spPr>
          <a:xfrm>
            <a:off x="9902952" y="3950208"/>
            <a:ext cx="1481328" cy="9144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921240" y="396849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Cycle Time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9921240" y="4206240"/>
            <a:ext cx="1444752" cy="17373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939528" y="4206240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date → Active price date</a:t>
            </a:r>
            <a:endParaRPr lang="en-US" sz="650" dirty="0"/>
          </a:p>
        </p:txBody>
      </p:sp>
      <p:sp>
        <p:nvSpPr>
          <p:cNvPr id="201" name="Text 199"/>
          <p:cNvSpPr/>
          <p:nvPr/>
        </p:nvSpPr>
        <p:spPr>
          <a:xfrm>
            <a:off x="9921240" y="4398264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KPI</a:t>
            </a:r>
            <a:endParaRPr lang="en-US" sz="600" dirty="0"/>
          </a:p>
        </p:txBody>
      </p:sp>
      <p:sp>
        <p:nvSpPr>
          <p:cNvPr id="202" name="Shape 20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BMW RFI CA-250/CA-251 | McKinsey Aftersales Benchmarks | Middlesex Consulting | Vistex Advisory  —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Pricing KPIs — Stages 1 to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Build-Up  →  Benchmarking  →  Value Assessment  →  Price Setting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788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Cost Build-Up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325880"/>
            <a:ext cx="27889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" y="13716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6888" y="1572768"/>
            <a:ext cx="2697480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74320" y="181051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Ex-Factory Cost / RET Ratio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48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÷ RET × 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226771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floor: must be &lt;100%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46888" y="245973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47802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78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4320" y="26791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Coverage 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1693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9169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÷ Total Allocated Cost × 100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313639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logistics, warranty, overhead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46888" y="332841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4670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467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74320" y="35478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Change Alert Rate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78561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Parts with cost Δ &gt; 5%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" y="40050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for central repricing worklist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46888" y="419709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21538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153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44165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Charge Recovery Rate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465429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4654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charges set ÷ Eligible returnable parts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4320" y="48737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explicit requirement (UC 3.9)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46888" y="506577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5084064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5084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74320" y="528523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Trend Index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552297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55229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3M cost avg vs. 12M avg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74320" y="574243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for lump sum need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246120" y="822960"/>
            <a:ext cx="2788920" cy="502920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337560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Competitive Benchmarking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1325880"/>
            <a:ext cx="27889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37560" y="13716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291840" y="1572768"/>
            <a:ext cx="2697480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19272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9272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319272" y="181051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Price Index (CPI)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319272" y="204825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37560" y="2048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RET ÷ Best IAM price × 100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319272" y="226771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&gt;150: fully captive; &lt;110: vulnerable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291840" y="245973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19272" y="247802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9272" y="2478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319272" y="26791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 to IAM 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319272" y="291693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29169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IAM) ÷ IAM × 100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319272" y="313639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typically 30–50% premium vs. IAM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291840" y="332841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9272" y="334670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9272" y="33467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319272" y="35478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Exclusivity Rate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319272" y="378561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37560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No-IAM-equivalent parts ÷ Total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319272" y="40050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structural pricing power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291840" y="419709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19272" y="421538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19272" y="42153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319272" y="44165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Competitor Price Position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319272" y="465429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7560" y="4654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RET vs. MB / Audi / Porsche equiv.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319272" y="48737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hierarchy must be maintained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291840" y="506577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19272" y="5084064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19272" y="5084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3319272" y="528523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Movement Δ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319272" y="552297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37560" y="55229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price change vs. prior period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319272" y="574243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trigger in PRIMUS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6291072" y="822960"/>
            <a:ext cx="2788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382512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Value Assessment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291072" y="1325880"/>
            <a:ext cx="27889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382512" y="13716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336792" y="1572768"/>
            <a:ext cx="2697480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64224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64224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6364224" y="181051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Coverage Rate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364224" y="204825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82512" y="2048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assigned to FC ÷ Total active parts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6364224" y="226771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100% — unassigned = unpriced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6336792" y="245973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64224" y="247802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64224" y="2478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6364224" y="26791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Willingness-to-Pay Index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364224" y="291693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82512" y="29169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÷ Vehicle residual value segment avg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364224" y="313639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BMW segmentation logic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6336792" y="332841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64224" y="334670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64224" y="33467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6364224" y="35478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Accuracy Score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364224" y="378561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82512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segmented (audit) ÷ Sample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6364224" y="40050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quality of price proposals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336792" y="419709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364224" y="4215384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64224" y="42153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6364224" y="44165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Allocation Hit Rate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364224" y="465429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82512" y="4654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Auto-allocated ÷ Total new parts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6364224" y="48737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RFI FC008 requirement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6336792" y="506577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364224" y="5084064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364224" y="5084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6364224" y="528523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Drift Rate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364224" y="552297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82512" y="55229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requiring re-segmentation ÷ Total FC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6364224" y="574243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family code revision trigger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9336024" y="822960"/>
            <a:ext cx="2788920" cy="502920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9427464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Price Setting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9336024" y="1325880"/>
            <a:ext cx="27889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9427464" y="13716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9381744" y="1572768"/>
            <a:ext cx="2697480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409176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409176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9409176" y="181051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% (CM%)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9409176" y="204825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427464" y="2048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Variable Cost) ÷ RET × 100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9409176" y="226771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pricing KPI. Threshold triggers 4-eyes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9381744" y="245973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09176" y="247802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409176" y="2478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9409176" y="26791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 (GP%)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9409176" y="291693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427464" y="29169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Ex-Factory Cost) ÷ RET × 100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9409176" y="313639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&gt;30% for automotive OEM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9381744" y="332841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09176" y="334670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409176" y="33467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9409176" y="35478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 Pricing Cycle Time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9409176" y="378561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427464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seconds: new part → valid price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9409176" y="40050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explicit target: &lt;30 seconds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9381744" y="419709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409176" y="421538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409176" y="42153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9409176" y="44165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Threshold Violation Rate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9409176" y="465429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427464" y="4654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below min CM ÷ Total parts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9409176" y="48737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— triggers mandatory review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9381744" y="506577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409176" y="508406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409176" y="5084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9409176" y="528523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Pass-Through Rate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9409176" y="552297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427464" y="55229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applied lump sum ÷ Notified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9409176" y="574243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inflation compensation KPI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9381744" y="5934456"/>
            <a:ext cx="2697480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409176" y="5952744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409176" y="59527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164" name="Text 162"/>
          <p:cNvSpPr/>
          <p:nvPr/>
        </p:nvSpPr>
        <p:spPr>
          <a:xfrm>
            <a:off x="9409176" y="615391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Proposal Acceptance Rate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9409176" y="6391656"/>
            <a:ext cx="2642616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427464" y="63916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proposals accepted ÷ Generated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409176" y="661111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segmentation quality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Vistex Advisory Work Product  |  BMW Aftersales Pricing KPI Framework  |  2025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Pricing KPIs — Stages 5 to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Governance  →  Execution / Realization  →  Monitoring &amp; Feedback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3721608" cy="50292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822960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Discount Governance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325880"/>
            <a:ext cx="372160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" y="1371600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6888" y="1572768"/>
            <a:ext cx="3630168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92608" y="1810512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Dealer Margin 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048256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204825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(MRP − MDN) ÷ MRP × 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608" y="2267712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dealer willingness to sell BMW genuine parts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46888" y="2441448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459736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4597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92608" y="2660904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Customer Discount 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2898648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898648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 − Special Price) ÷ List × 100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2608" y="3118104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group: importer / authority / industry (UC 3.13)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46888" y="3291840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310128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310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92608" y="3511296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Rate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" y="3749040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374904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priced parts ÷ Total market parts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608" y="3968496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= retail factor misfit for family code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46888" y="4142232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4160520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160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92608" y="4361688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4-Eyes Approval Compliance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2608" y="4599432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459943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via workflow ÷ All above-threshold changes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2608" y="4818888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 — BMW RFI requirement FC003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46888" y="4992624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5010912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50109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92608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Price Restoration Rate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" y="5449824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5449824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Auto-restored ÷ Expired campaign prices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92608" y="5669280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3.10 — manual price tracking KPI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178808" y="822960"/>
            <a:ext cx="3721608" cy="502920"/>
          </a:xfrm>
          <a:prstGeom prst="rect">
            <a:avLst/>
          </a:prstGeom>
          <a:solidFill>
            <a:srgbClr val="7CB9E4"/>
          </a:solidFill>
          <a:ln w="12700">
            <a:solidFill>
              <a:srgbClr val="7CB9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70248" y="822960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Execution / Realization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178808" y="1325880"/>
            <a:ext cx="372160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70248" y="1371600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24528" y="1572768"/>
            <a:ext cx="3630168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0248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70248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270248" y="1810512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 Gross Profit 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270248" y="2048256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88536" y="204825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(MRP − MDN) ÷ MRP × 100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70248" y="2267712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 in PRIMUS — minimum GP floor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224528" y="2441448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0248" y="2459736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0248" y="24597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270248" y="2660904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Retail Price (MRP)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270248" y="2898648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88536" y="2898648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RET × Retail Factor (by Family Code)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270248" y="3118104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 output. Must hit GP floor after rounding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224528" y="3291840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70248" y="3310128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0248" y="3310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270248" y="3511296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Activation Lead Time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270248" y="3749040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88536" y="374904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approval date → live in market system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270248" y="3968496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same-day; max 1 business day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224528" y="4142232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70248" y="4160520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70248" y="4160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270248" y="4361688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Upload Error Rate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270248" y="4599432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88536" y="459943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upload records ÷ Total submitted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270248" y="4818888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&lt;1% — data quality indicator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224528" y="4992624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70248" y="5010912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70248" y="50109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270248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Lag Impact (CM Δ)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270248" y="5449824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88536" y="5449824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loss from delayed FX rate updates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4270248" y="5669280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critical for EUR/USD, EUR/GBP markets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4224528" y="5843016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70248" y="5861304"/>
            <a:ext cx="658368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70248" y="5861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4270248" y="6062472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Compliance Rate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270248" y="6300216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88536" y="630021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correctly rounded ÷ Total market prices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270248" y="6519672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3.11 — different rules per market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8156448" y="822960"/>
            <a:ext cx="3721608" cy="502920"/>
          </a:xfrm>
          <a:prstGeom prst="rect">
            <a:avLst/>
          </a:prstGeom>
          <a:solidFill>
            <a:srgbClr val="A8D3F0"/>
          </a:solidFill>
          <a:ln w="12700">
            <a:solidFill>
              <a:srgbClr val="A8D3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8247888" y="822960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Monitoring &amp; Feedback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156448" y="1325880"/>
            <a:ext cx="372160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8247888" y="1371600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|  Formula  |  Context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202168" y="1572768"/>
            <a:ext cx="3630168" cy="1371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47888" y="1609344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47888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8247888" y="1810512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Revenue % of Total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8247888" y="2048256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66176" y="204825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&amp; Accessories revenue ÷ Total BMW revenue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247888" y="2267712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target: 25–30% (industry leaders)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8202168" y="2441448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47888" y="2459736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47888" y="24597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8247888" y="2660904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— Aftersales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247888" y="2898648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66176" y="2898648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EBIT ÷ Aftersales Revenue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8247888" y="3118104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benchmark: ~25% vs 10% for new vehicles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8202168" y="3291840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47888" y="3310128"/>
            <a:ext cx="658368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47888" y="3310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8247888" y="3511296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Market Share Capture Rate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247888" y="3749040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266176" y="374904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genuine parts revenue ÷ Total repair market spend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8247888" y="3968496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competitive effectiveness indicator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8202168" y="4142232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47888" y="4160520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47888" y="4160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8247888" y="4361688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Clearance Rate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8247888" y="4599432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66176" y="459943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worklist items ÷ Total items (by week)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8247888" y="4818888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 — uncleared = wrong prices live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8202168" y="4992624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247888" y="5010912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247888" y="50109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247888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Cycle Time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8247888" y="5449824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266176" y="5449824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days: trigger detected → active price in market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8247888" y="5669280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agility KPI — target &lt;3 days central, &lt;1 day market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202168" y="5843016"/>
            <a:ext cx="3630168" cy="13716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47888" y="5861304"/>
            <a:ext cx="658368" cy="182880"/>
          </a:xfrm>
          <a:prstGeom prst="rect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47888" y="5861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8247888" y="6062472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Violation Resolution Time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8247888" y="6300216"/>
            <a:ext cx="3538728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266176" y="630021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 violation flagged → price corrected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247888" y="6519672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for compliance — BMW RFI FC009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Vistex Advisory Work Product  |  BMW Aftersales Pricing KPI Framework  |  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ThinkCell Import Reference — KPI × Process Stage Matrix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77240"/>
          <a:ext cx="11841480" cy="320040"/>
        </p:xfrm>
        <a:graphic>
          <a:graphicData uri="http://schemas.openxmlformats.org/drawingml/2006/table">
            <a:tbl>
              <a:tblPr/>
              <a:tblGrid>
                <a:gridCol w="274320"/>
                <a:gridCol w="2194560"/>
                <a:gridCol w="2331720"/>
                <a:gridCol w="1691640"/>
                <a:gridCol w="685800"/>
                <a:gridCol w="640080"/>
                <a:gridCol w="86868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Process Stage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BMW RFI Ref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97280"/>
          <a:ext cx="1184148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194560"/>
                <a:gridCol w="2331720"/>
                <a:gridCol w="1691640"/>
                <a:gridCol w="685800"/>
                <a:gridCol w="640080"/>
                <a:gridCol w="868680"/>
                <a:gridCol w="137160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Ex-Factory Cost / RET Ratio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Cost ÷ RET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 – Cost Build-Up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FC001, FC009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&lt;100% always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Cost Change Alert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Parts with cost Δ &gt; threshold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 – Cost Build-Up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FC009, UC 3.3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0 unreviewed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Core Charge Recovery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Charges set ÷ Eligible returnable parts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 – Cost Build-Up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UC 3.9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&gt;95%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Competitive Price Index (CPI)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BMW RET ÷ Best IAM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 – Competitive Benchmark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FC012, UC 3.8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110–150 target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Price Gap to IAM 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(RET − IAM) ÷ IAM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 – Competitive Benchmark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FC012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30–50% OEM prem.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Parts Exclusivity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Captive parts ÷ Total portfolio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 – Competitive Benchmark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FC006, FC007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Maximize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Family Code Coverage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Parts in FC ÷ Total active parts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3 – Value Assessment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FC006, FC016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Willingness-to-Pay Index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RET ÷ Vehicle residual value segment avg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3 – Value Assessment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FC007, UC 3.1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Family code specific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AI Allocation Hit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Auto-allocated ÷ Total new parts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3 – Value Assessment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4A6B8A"/>
                          </a:solidFill>
                        </a:rPr>
                        <a:t>Medium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&gt;80%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Contribution Margin % (CM%)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(RET − Variable Cost) ÷ RET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4 – Price Setting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FC002, FC003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&gt;30%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Gross Profit % (GP%)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(RET − Ex-Factory) ÷ RET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4 – Price Setting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FC004, FC005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&gt;30% OEM parts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New Part Pricing Cycle Time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Avg seconds: part release → valid price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4 – Price Setting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FC016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&lt;30 seconds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Profit Threshold Violation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Parts below min CM ÷ Total parts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4 – Price Setting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FC009, FC003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0% target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14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MDN Dealer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(MRP − MDN) ÷ MRP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5 – Discount Governance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FC007, UC 3.7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25–40%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4-Eyes Approval Compliance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Approved via workflow ÷ Above-threshold changes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5 – Discount Governance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FC003, FC022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Manual Price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Manual priced ÷ Total market parts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5 – Discount Governance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UC 3.10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&lt;10% target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NSC Gross Profit 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(MRP − MDN) ÷ MRP × 100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6 – Execution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FC023, UC 3.8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Min floor by 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Price Activation Lead Time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Days: approval → live in 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6 – Execution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FC017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Same day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19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Exchange Rate Lag Impact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CM Δ from outdated FX rates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6 – Execution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UC 3.12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Near zero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Price Upload Error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Rejected records ÷ Total uploaded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6 – Execution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UC 3.4, IT002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&lt;1%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Aftersales Revenue 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Parts revenue ÷ Total BMW revenue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7 – Monitoring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Strategic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GC007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25–30%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EBIT Margin — Aftersales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Aftersales EBIT ÷ Aftersales Revenue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7 – Monitoring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Strategic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GC007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~25% (McKinsey)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IAM Market Share Capture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BMW genuine ÷ Total repair spend on BMW cars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7 – Monitoring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Strategic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FC012, GC007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Maximize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24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Worklist Clearance Rate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Resolved ÷ Total worklist items per week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7 – Monitoring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FC009, FC023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&gt;95%/week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Price Change Cycle Time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Days: trigger → active price in market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7 – Monitoring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FC009, GC007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&lt;3 days central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ThinkCell: Copy table above into ThinkCell data sheet. Map 'Process Stage' as category axis, 'KPI Name' as series, numeric KPI values as data points for waterfall chart.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2026-02-17T12:22:23Z</dcterms:created>
  <dcterms:modified xsi:type="dcterms:W3CDTF">2026-02-17T12:22:23Z</dcterms:modified>
</cp:coreProperties>
</file>