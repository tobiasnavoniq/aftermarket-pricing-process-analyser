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Aftermarket Parts Pricing: Value Impact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per €100M Revenue | 9-Step Process Analysis | Industry Benchmarks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430000" cy="1828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KPIs for BMW Aftermarket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2560320" cy="347472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731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Realization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88-94%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30-50%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39-45%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Leakage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3-8pp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Obsolescence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Turns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3.8-4.5x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GMROII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2.5-3.2x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Level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95-98%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Part Cycle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&lt;30sec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Accuracy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9184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Impact Across 9 Pricing Steps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91840" y="16459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€100M Revenue</a:t>
            </a:r>
            <a:endParaRPr lang="en-US" sz="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920240"/>
          <a:ext cx="5029200" cy="3200400"/>
        </p:xfrm>
        <a:graphic>
          <a:graphicData uri="http://schemas.openxmlformats.org/drawingml/2006/table">
            <a:tbl>
              <a:tblPr/>
              <a:tblGrid>
                <a:gridCol w="274320"/>
                <a:gridCol w="2286000"/>
                <a:gridCol w="548640"/>
                <a:gridCol w="731520"/>
                <a:gridCol w="11887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Step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€/€100M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Driver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Structure Definition (AG)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Price Creation (AG)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WTP Gap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Price Adjustments (AG)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 → Market Handover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Price Derivation (Market)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+€0.5M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Factor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Price Changes (Market)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-3pp ⚠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-€3.0M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LEAKAGE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Campaigns &amp; Special Prices (Market)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Override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Publication &amp; Distribution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Audit, History &amp; Compliance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LEAKAGE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-€6.0M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POTENTIAL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+€3.0M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Recovery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291840" y="5212080"/>
            <a:ext cx="5029200" cy="4572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383280" y="5257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Step 6 represents 50% of total leakage through discount governance gaps. Primary improvement opportunity.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50392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Sources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503920" y="1645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Leakage Benchmarks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503920" y="1920240"/>
            <a:ext cx="32004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95360" y="1965960"/>
            <a:ext cx="3017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595360" y="21214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Total: 6-15pp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Discount: 40-60%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8503920" y="2468880"/>
            <a:ext cx="32004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595360" y="2514600"/>
            <a:ext cx="3017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 &amp; Company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8595360" y="26700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Discount: 3-8pp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 focus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8503920" y="3017520"/>
            <a:ext cx="32004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95360" y="3063240"/>
            <a:ext cx="3017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Roland Berger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8595360" y="321868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Margins: 30-50%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 advantage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8503920" y="3566160"/>
            <a:ext cx="32004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595360" y="3611880"/>
            <a:ext cx="3017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IHS/S&amp;P Mobility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595360" y="376732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Obsolescence: 2-5%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 transition risk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8503920" y="4114800"/>
            <a:ext cx="32004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595360" y="4160520"/>
            <a:ext cx="3017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CLEPA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595360" y="431596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Realization: 88-94%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IAM competition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8503920" y="4754880"/>
            <a:ext cx="3200400" cy="1005840"/>
          </a:xfrm>
          <a:prstGeom prst="rect">
            <a:avLst/>
          </a:prstGeom>
          <a:solidFill>
            <a:srgbClr val="E7F3E7"/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595360" y="48463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BMW AFTERSALES ESTIMATE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8595360" y="5074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€4.5-5.5B (using €5.0B)</a:t>
            </a:r>
            <a:endParaRPr lang="en-US" sz="700" dirty="0"/>
          </a:p>
          <a:p>
            <a:pPr indent="0" marL="0">
              <a:lnSpc>
                <a:spcPts val="1600"/>
              </a:lnSpc>
              <a:buNone/>
            </a:pPr>
            <a:endParaRPr lang="en-US" sz="7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Leakage: €300M (6pp)</a:t>
            </a:r>
            <a:endParaRPr lang="en-US" sz="7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Impact: €150M (3pp)</a:t>
            </a:r>
            <a:endParaRPr lang="en-US" sz="700" dirty="0"/>
          </a:p>
          <a:p>
            <a:pPr indent="0" marL="0">
              <a:lnSpc>
                <a:spcPts val="1600"/>
              </a:lnSpc>
              <a:buNone/>
            </a:pPr>
            <a:endParaRPr lang="en-US" sz="7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Improvement: €150M potential</a:t>
            </a:r>
            <a:endParaRPr lang="en-US" sz="7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Discount: €100M (primary)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45720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McKinsey Pricing Studies, Bain Aftermarket Reports, Roland Berger Automotive, IHS/S&amp;P Mobility, CLEPA | BMW revenue estimated from public financial disclosures</a:t>
            </a:r>
            <a:endParaRPr lang="en-US" sz="700" dirty="0"/>
          </a:p>
        </p:txBody>
      </p:sp>
      <p:sp>
        <p:nvSpPr>
          <p:cNvPr id="33" name="Text 29"/>
          <p:cNvSpPr/>
          <p:nvPr/>
        </p:nvSpPr>
        <p:spPr>
          <a:xfrm>
            <a:off x="9875520" y="6217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Vistex RFP Response | Confidential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Vistex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2026-02-20T09:29:42Z</dcterms:created>
  <dcterms:modified xsi:type="dcterms:W3CDTF">2026-02-20T09:29:42Z</dcterms:modified>
</cp:coreProperties>
</file>