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so we can plot KPI &amp; Performance Metrics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Allowing to install mechanisms to identify, target and optimize price performance and execution performance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560320" cy="2743200"/>
          </a:xfrm>
          <a:prstGeom prst="rect">
            <a:avLst/>
          </a:prstGeom>
          <a:solidFill>
            <a:srgbClr val="E6E7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KPI's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0896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KPIs for BMW Aftermarket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1645920"/>
          <a:ext cx="4114800" cy="237744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29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7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29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Benchmark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7E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9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Realization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9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88-94%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9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Margin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9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9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Discount Leakage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9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3-8pp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9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Obsolescence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9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9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Inventory Turns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9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3.8-4.5x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9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GMROII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9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2.5-3.2x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9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Level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9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95-98%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9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Part Cycle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9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9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 Accuracy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9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15-25%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206240"/>
            <a:ext cx="2560320" cy="365760"/>
          </a:xfrm>
          <a:prstGeom prst="rect">
            <a:avLst/>
          </a:prstGeom>
          <a:solidFill>
            <a:srgbClr val="E6E7E8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251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108960" y="4206240"/>
            <a:ext cx="1673352" cy="365760"/>
          </a:xfrm>
          <a:prstGeom prst="rect">
            <a:avLst/>
          </a:prstGeom>
          <a:solidFill>
            <a:srgbClr val="C1272D"/>
          </a:solidFill>
          <a:ln/>
        </p:spPr>
      </p:sp>
      <p:sp>
        <p:nvSpPr>
          <p:cNvPr id="11" name="Text 8"/>
          <p:cNvSpPr/>
          <p:nvPr/>
        </p:nvSpPr>
        <p:spPr>
          <a:xfrm>
            <a:off x="3108960" y="425196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VALUE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82312" y="4206240"/>
            <a:ext cx="1673352" cy="365760"/>
          </a:xfrm>
          <a:prstGeom prst="rect">
            <a:avLst/>
          </a:prstGeom>
          <a:solidFill>
            <a:srgbClr val="003B5C"/>
          </a:solidFill>
          <a:ln/>
        </p:spPr>
      </p:sp>
      <p:sp>
        <p:nvSpPr>
          <p:cNvPr id="13" name="Text 10"/>
          <p:cNvSpPr/>
          <p:nvPr/>
        </p:nvSpPr>
        <p:spPr>
          <a:xfrm>
            <a:off x="4782312" y="425196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CAPITAL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55664" y="4206240"/>
            <a:ext cx="1673352" cy="365760"/>
          </a:xfrm>
          <a:prstGeom prst="rect">
            <a:avLst/>
          </a:prstGeom>
          <a:solidFill>
            <a:srgbClr val="003B5C"/>
          </a:solidFill>
          <a:ln/>
        </p:spPr>
      </p:sp>
      <p:sp>
        <p:nvSpPr>
          <p:cNvPr id="15" name="Text 12"/>
          <p:cNvSpPr/>
          <p:nvPr/>
        </p:nvSpPr>
        <p:spPr>
          <a:xfrm>
            <a:off x="6455664" y="425196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OPERATIONAL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EXCELLENCE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129016" y="4206240"/>
            <a:ext cx="1673352" cy="365760"/>
          </a:xfrm>
          <a:prstGeom prst="rect">
            <a:avLst/>
          </a:prstGeom>
          <a:solidFill>
            <a:srgbClr val="003B5C"/>
          </a:solidFill>
          <a:ln/>
        </p:spPr>
      </p:sp>
      <p:sp>
        <p:nvSpPr>
          <p:cNvPr id="17" name="Text 14"/>
          <p:cNvSpPr/>
          <p:nvPr/>
        </p:nvSpPr>
        <p:spPr>
          <a:xfrm>
            <a:off x="8129016" y="425196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MARKET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802368" y="4206240"/>
            <a:ext cx="1673352" cy="365760"/>
          </a:xfrm>
          <a:prstGeom prst="rect">
            <a:avLst/>
          </a:prstGeom>
          <a:solidFill>
            <a:srgbClr val="003B5C"/>
          </a:solidFill>
          <a:ln/>
        </p:spPr>
      </p:sp>
      <p:sp>
        <p:nvSpPr>
          <p:cNvPr id="19" name="Text 16"/>
          <p:cNvSpPr/>
          <p:nvPr/>
        </p:nvSpPr>
        <p:spPr>
          <a:xfrm>
            <a:off x="9802368" y="425196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GOVERNANCE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CONTROL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65760" y="4617720"/>
            <a:ext cx="2560320" cy="457200"/>
          </a:xfrm>
          <a:prstGeom prst="rect">
            <a:avLst/>
          </a:prstGeom>
          <a:solidFill>
            <a:srgbClr val="E6E7E8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663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108960" y="4617720"/>
            <a:ext cx="1673352" cy="457200"/>
          </a:xfrm>
          <a:prstGeom prst="rect">
            <a:avLst/>
          </a:prstGeom>
          <a:solidFill>
            <a:srgbClr val="FCE5C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108960" y="4663440"/>
            <a:ext cx="1673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40-50%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782312" y="4617720"/>
            <a:ext cx="16733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82312" y="4663440"/>
            <a:ext cx="1673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25-30%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455664" y="4617720"/>
            <a:ext cx="16733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55664" y="4663440"/>
            <a:ext cx="1673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15-20%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8129016" y="4617720"/>
            <a:ext cx="16733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29016" y="4663440"/>
            <a:ext cx="1673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10-15%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9802368" y="4617720"/>
            <a:ext cx="16733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02368" y="4663440"/>
            <a:ext cx="1673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5-10%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65760" y="5074920"/>
            <a:ext cx="2560320" cy="457200"/>
          </a:xfrm>
          <a:prstGeom prst="rect">
            <a:avLst/>
          </a:prstGeom>
          <a:solidFill>
            <a:srgbClr val="D9EAD3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5120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Impact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€100M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(1bp improve)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108960" y="5074920"/>
            <a:ext cx="1673352" cy="457200"/>
          </a:xfrm>
          <a:prstGeom prst="rect">
            <a:avLst/>
          </a:prstGeom>
          <a:solidFill>
            <a:srgbClr val="D9EAD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108960" y="5120640"/>
            <a:ext cx="1673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+€0.40-0.50M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782312" y="5074920"/>
            <a:ext cx="1673352" cy="457200"/>
          </a:xfrm>
          <a:prstGeom prst="rect">
            <a:avLst/>
          </a:prstGeom>
          <a:solidFill>
            <a:srgbClr val="D9EAD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82312" y="5120640"/>
            <a:ext cx="1673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+€0.25-0.30M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455664" y="5074920"/>
            <a:ext cx="1673352" cy="457200"/>
          </a:xfrm>
          <a:prstGeom prst="rect">
            <a:avLst/>
          </a:prstGeom>
          <a:solidFill>
            <a:srgbClr val="D9EAD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55664" y="5120640"/>
            <a:ext cx="1673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+€0.15-0.20M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8129016" y="5074920"/>
            <a:ext cx="1673352" cy="457200"/>
          </a:xfrm>
          <a:prstGeom prst="rect">
            <a:avLst/>
          </a:prstGeom>
          <a:solidFill>
            <a:srgbClr val="D9EAD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129016" y="5120640"/>
            <a:ext cx="1673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+€0.10-0.15M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9802368" y="5074920"/>
            <a:ext cx="1673352" cy="457200"/>
          </a:xfrm>
          <a:prstGeom prst="rect">
            <a:avLst/>
          </a:prstGeom>
          <a:solidFill>
            <a:srgbClr val="D9EAD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802368" y="5120640"/>
            <a:ext cx="1673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+€0.05-0.10M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65760" y="5532120"/>
            <a:ext cx="2560320" cy="457200"/>
          </a:xfrm>
          <a:prstGeom prst="rect">
            <a:avLst/>
          </a:prstGeom>
          <a:solidFill>
            <a:srgbClr val="E6E7E8"/>
          </a:solidFill>
          <a:ln/>
        </p:spPr>
      </p:sp>
      <p:sp>
        <p:nvSpPr>
          <p:cNvPr id="45" name="Text 42"/>
          <p:cNvSpPr/>
          <p:nvPr/>
        </p:nvSpPr>
        <p:spPr>
          <a:xfrm>
            <a:off x="457200" y="5577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108960" y="5532120"/>
            <a:ext cx="1673352" cy="457200"/>
          </a:xfrm>
          <a:prstGeom prst="rect">
            <a:avLst/>
          </a:prstGeom>
          <a:solidFill>
            <a:srgbClr val="FCE5C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108960" y="5577840"/>
            <a:ext cx="1673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782312" y="5532120"/>
            <a:ext cx="16733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782312" y="5577840"/>
            <a:ext cx="1673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GMROII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455664" y="5532120"/>
            <a:ext cx="16733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55664" y="5577840"/>
            <a:ext cx="1673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Level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Forecast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8129016" y="5532120"/>
            <a:ext cx="16733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129016" y="5577840"/>
            <a:ext cx="1673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9802368" y="5532120"/>
            <a:ext cx="16733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802368" y="5577840"/>
            <a:ext cx="1673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365760" y="6217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Sources &amp; Benchmarks: McKinsey (Total margin leakage 6-15pp, Discount 40-60%) | Bain &amp; Company (Discount 3-8pp, Governance focus) | Roland Berger (Margins 30-50%, Premium OEM advantage) | IHS/S&amp;P Mobility (Obsolescence 2-5%, EV transition risk) | CLEPA (Price Realization 88-94%, IAM competition)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109728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Vistex</a:t>
            </a:r>
            <a:endParaRPr lang="en-US" sz="1800" dirty="0"/>
          </a:p>
        </p:txBody>
      </p:sp>
      <p:sp>
        <p:nvSpPr>
          <p:cNvPr id="58" name="Text 55"/>
          <p:cNvSpPr/>
          <p:nvPr/>
        </p:nvSpPr>
        <p:spPr>
          <a:xfrm>
            <a:off x="365760" y="65379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Vistex, Inc. Proprietary and confidential. All rights reserved.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2026-02-24T04:18:48Z</dcterms:created>
  <dcterms:modified xsi:type="dcterms:W3CDTF">2026-02-24T04:18:48Z</dcterms:modified>
</cp:coreProperties>
</file>