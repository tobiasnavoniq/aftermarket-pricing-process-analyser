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Aftermarket Pricing: Value Opportunity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Analysis | Scenario-Based Opportunity Sizing | Discovery Phase Required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Vistex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Ranges (Premium OEM Context)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486400" cy="196596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2801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Range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Quartile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(Best-in-Class)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Quartile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(Below Average)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Realization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88-94%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92-94%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88-90%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43-50%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30-38%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Leakage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3-8pp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Obsolescence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3.8-4.5x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4.2-4.5x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3.8-4.0x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GMROII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2.5-3.2x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2.9-3.2x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2.5-2.7x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95-98%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97-98%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95-96%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 Repair Share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45-70%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60-70%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45-55%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Sources &amp; Methodology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107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9107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Pricing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Studies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09244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16559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Aftermarket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Analysis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996696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4011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Roland Berger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04011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Aftermarket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217920" y="233172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237744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IHS/S&amp;P Global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91072" y="256032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Analytics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Data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092440" y="233172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65592" y="237744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CLEPA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165592" y="256032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Parts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Data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9966960" y="1508760"/>
            <a:ext cx="1737360" cy="1600200"/>
          </a:xfrm>
          <a:prstGeom prst="rect">
            <a:avLst/>
          </a:prstGeom>
          <a:solidFill>
            <a:srgbClr val="E8F4F8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40112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METHODOLOGY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040112" y="1755648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based on: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 benchmark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ranges from 5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consulting sources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OEM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positioning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BMW actual baseline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TBD in discovery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33832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Impact by Process Step: Upper vs Lower Quartile Scenarios (per €100M Revenue)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11430000" cy="1783080"/>
        </p:xfrm>
        <a:graphic>
          <a:graphicData uri="http://schemas.openxmlformats.org/drawingml/2006/table">
            <a:tbl>
              <a:tblPr/>
              <a:tblGrid>
                <a:gridCol w="91440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AG→Mkt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€/€100M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+€0.7M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-€2.0M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-€3.3M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+€2.0M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€/€100M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+€0.3M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-€4.0M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-€8.7M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+€4.0M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Focus: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457200" y="5852160"/>
            <a:ext cx="11430000" cy="365760"/>
          </a:xfrm>
          <a:prstGeom prst="rect">
            <a:avLst/>
          </a:prstGeom>
          <a:solidFill>
            <a:srgbClr val="FFF4E6"/>
          </a:solidFill>
          <a:ln w="25400">
            <a:solidFill>
              <a:srgbClr val="FFC0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5897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CRITICAL: Step 6 (Discount Governance) varies 2x between scenarios (€2M vs €4M per €100M). Upper quartile represents best-in-class execution. BMW baseline to be established in discovery phase.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57200" y="6080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Pricing Studies, Bain Aftermarket Reports, Roland Berger Automotive, IHS/S&amp;P Global Mobility, CLEPA European Supplier Data | All scenarios based on published industry benchmarks. NO BMW-specific data used. BMW actual baseline TBD during discovery.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9418320" y="6172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Vistex RFP Response |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2026-02-23T17:14:27Z</dcterms:created>
  <dcterms:modified xsi:type="dcterms:W3CDTF">2026-02-23T17:14:27Z</dcterms:modified>
</cp:coreProperties>
</file>