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Aftermarket Parts Pricing: Value Impact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per €100M Revenue | 9-Step Process Analysis | Industry Benchmarks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Vistex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1430000" cy="1828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KPIs for BMW Aftermarket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5486400" cy="173736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Realization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Leakage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Obsolescence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88-94%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30-50%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3-8pp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2-5%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3.8-4.5x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91%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39-45%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&lt;3pp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C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3.2%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4.2x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GMROII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Part Cycle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2.5-3.2x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95-98%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N/A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Benchmark: 15-25%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2.8x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97%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&lt;30sec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70AD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BMW: &lt;20%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1887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Sources &amp; BMW Estimate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9107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Total: 6-15pp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40-60%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09244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6559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16559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Discount: 3-8pp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9966960" y="150876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40112" y="155448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Berger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040112" y="173736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Margins: 30-50%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621792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IHS/S&amp;P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29107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Obsolescence: 2-5%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 risk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92440" y="2331720"/>
            <a:ext cx="1737360" cy="777240"/>
          </a:xfrm>
          <a:prstGeom prst="rect">
            <a:avLst/>
          </a:prstGeom>
          <a:solidFill>
            <a:srgbClr val="F2F2F2"/>
          </a:solidFill>
          <a:ln w="6350">
            <a:solidFill>
              <a:srgbClr val="7F7F7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65592" y="2377440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CLEPA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165592" y="256032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Realization: 88-94%</a:t>
            </a:r>
            <a:endParaRPr lang="en-US" sz="7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IAM pressure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9966960" y="1508760"/>
            <a:ext cx="1737360" cy="1600200"/>
          </a:xfrm>
          <a:prstGeom prst="rect">
            <a:avLst/>
          </a:prstGeom>
          <a:solidFill>
            <a:srgbClr val="E7F3E7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40112" y="1572768"/>
            <a:ext cx="1591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BMW ESTIMATE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40112" y="1755648"/>
            <a:ext cx="159105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€5.0B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Leakage: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€300M (6pp)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€150M (3pp)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Focus:</a:t>
            </a:r>
            <a:endParaRPr lang="en-US" sz="7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7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€100M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34747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Impact by Pricing Process Step (per €100M Revenue)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11430000" cy="1371600"/>
        </p:xfrm>
        <a:graphic>
          <a:graphicData uri="http://schemas.openxmlformats.org/drawingml/2006/table">
            <a:tbl>
              <a:tblPr/>
              <a:tblGrid>
                <a:gridCol w="1051560"/>
                <a:gridCol w="960120"/>
                <a:gridCol w="960120"/>
                <a:gridCol w="960120"/>
                <a:gridCol w="868680"/>
                <a:gridCol w="960120"/>
                <a:gridCol w="960120"/>
                <a:gridCol w="960120"/>
                <a:gridCol w="960120"/>
                <a:gridCol w="960120"/>
                <a:gridCol w="777240"/>
                <a:gridCol w="96012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Structure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Creation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Adjustments (AG)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 → Market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Price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Campaigns &amp;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Prices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Publication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Distribution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Audit, History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Compliance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Impact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-3pp ⚠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+3pp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Impact / €100M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-€3.0M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-€1.0M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-€0.5M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-€6.0M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+€3.0M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WTP Gap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Factor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05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29" name="Shape 25"/>
          <p:cNvSpPr/>
          <p:nvPr/>
        </p:nvSpPr>
        <p:spPr>
          <a:xfrm>
            <a:off x="457200" y="5440680"/>
            <a:ext cx="11430000" cy="411480"/>
          </a:xfrm>
          <a:prstGeom prst="rect">
            <a:avLst/>
          </a:prstGeom>
          <a:solidFill>
            <a:srgbClr val="FFF4E6"/>
          </a:solidFill>
          <a:ln w="25400">
            <a:solidFill>
              <a:srgbClr val="FFC0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48640" y="5486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Step 6 (Market Price Changes) represents 50% of total margin leakage through discount governance gaps. Primary improvement opportunity = €100M for BMW (€2M per €100M revenue).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57200" y="60807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Pricing Studies, Bain Aftermarket Reports, Roland Berger Automotive, IHS/S&amp;P Global Mobility, CLEPA European Supplier Data | BMW Aftersales revenue estimated from public financial disclosures (2023-2024)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9418320" y="6080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Vistex RFP Response |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2026-02-20T10:01:56Z</dcterms:created>
  <dcterms:modified xsi:type="dcterms:W3CDTF">2026-02-20T10:01:56Z</dcterms:modified>
</cp:coreProperties>
</file>