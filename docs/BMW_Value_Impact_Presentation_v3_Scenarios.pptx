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Aftermarket Parts Pricing: Value Impact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Analysis: Upper vs Lower Performance Band | Standardized per €100M Revenue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Vistex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KPIs: Industry Benchmark Ranges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486400" cy="196596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Realization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Leakage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Obsolescence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Turns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88-94%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30-50%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3-8pp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2-5%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3.8-4.5x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Upper: 92-94%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Upper: 43-50%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Upper: 3-4pp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Upper: 2-3%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Upper: 4.2-4.5x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Lower: 88-90%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Lower: 30-38%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Lower: 6-8pp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Lower: 4-5%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Lower: 3.8-4.0x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GMROII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Part Cycle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Accuracy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2.5-3.2x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95-98%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&lt;30sec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15-25%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Upper: 2.9-3.2x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Upper: 97-98%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Upper: &lt;20sec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Upper: 15-18%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Lower: 2.5-2.7x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Lower: 95-96%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Lower: 40-50sec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4B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Lower: 22-25%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Sources &amp; Scenario Framework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9107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9107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Total: 6-15pp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Discount: 40-60%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09244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16559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Discount: 3-8pp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996696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4011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Roland Berger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04011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Margins: 30-50%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OEM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217920" y="233172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237744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IHS/S&amp;P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91072" y="256032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Obsolescence: 2-5%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 transition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092440" y="233172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65592" y="237744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CLEPA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165592" y="256032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Realization: 88-94%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IAM pressure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9966960" y="1508760"/>
            <a:ext cx="1737360" cy="1600200"/>
          </a:xfrm>
          <a:prstGeom prst="rect">
            <a:avLst/>
          </a:prstGeom>
          <a:solidFill>
            <a:srgbClr val="E8F4F8"/>
          </a:solidFill>
          <a:ln w="25400">
            <a:solidFill>
              <a:srgbClr val="1F4E7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40112" y="157276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SCENARIO BANDS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040112" y="1755648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Band: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OEM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governance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positioning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Band: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OEM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controls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33832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Impact by Process Step: Upper vs Lower Band Scenarios (per €100M Revenue)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11430000" cy="1783080"/>
        </p:xfrm>
        <a:graphic>
          <a:graphicData uri="http://schemas.openxmlformats.org/drawingml/2006/table">
            <a:tbl>
              <a:tblPr/>
              <a:tblGrid>
                <a:gridCol w="91440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86868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AG→Mkt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€/€100M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+€0.7M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-€2.0M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-€3.3M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+€2.0M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-8.7pp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€/€100M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+€0.3M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-€4.0M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-€1.3M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-€8.7M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+€4.0M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GOVERN.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6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457200" y="5852160"/>
            <a:ext cx="11430000" cy="411480"/>
          </a:xfrm>
          <a:prstGeom prst="rect">
            <a:avLst/>
          </a:prstGeom>
          <a:solidFill>
            <a:srgbClr val="FFF4E6"/>
          </a:solidFill>
          <a:ln w="25400">
            <a:solidFill>
              <a:srgbClr val="FFC0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5897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Step 6 (Discount Governance) impact varies 2x between scenarios (€2M vs €4M per €100M revenue). Premium OEMs with strong governance achieve Upper Band. Estimated BMW opportunity: €165M (Lower) to €100M (Upper) based on €5B revenue.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57200" y="6080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 Pricing Studies, Bain Aftermarket Reports, Roland Berger Automotive, IHS/S&amp;P Global Mobility, CLEPA European Supplier Data | Scenarios based on industry benchmark ranges. BMW actual performance to be assessed during discovery.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9418320" y="6172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Vistex RFP Response |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2026-02-20T11:28:40Z</dcterms:created>
  <dcterms:modified xsi:type="dcterms:W3CDTF">2026-02-20T11:28:40Z</dcterms:modified>
</cp:coreProperties>
</file>