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Aftermarket Pricing: Industry Benchmark Value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Benchmarks | Scenario-Based Opportunity Sizing | Per €100M Revenue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Vistex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Ranges (OEM Aftermarket)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4864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  <a:gridCol w="12801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OEM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(Upper Quartile)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OEM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(Mid-Range)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Area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Realization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92-94%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88-90%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Capture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Leakage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Capture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43-50%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30-38%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Capture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GMROII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2.9-3.2x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2.5-2.7x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Efficiency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Turns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4.2-4.5x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3.8-4.0x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Efficiency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Obsolescence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Efficiency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97-98%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95-96%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Accuracy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15-18%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22-25%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188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Data Sources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91072" y="155448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91072" y="173736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Total: 6-15pp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Discount: 40-60%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092440" y="150876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155448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165592" y="173736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Discount: 3-8pp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OEM studies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9966960" y="150876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40112" y="155448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Roland Berger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040112" y="173736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Margins: 30-50%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focus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217920" y="233172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237744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IHS/S&amp;P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91072" y="256032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Obsolescence data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Lifecycle trends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092440" y="233172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65592" y="237744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CLEPA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165592" y="256032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Realization: 88-94%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European data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9966960" y="1508760"/>
            <a:ext cx="1737360" cy="1600200"/>
          </a:xfrm>
          <a:prstGeom prst="rect">
            <a:avLst/>
          </a:prstGeom>
          <a:solidFill>
            <a:srgbClr val="FFF9E6"/>
          </a:solidFill>
          <a:ln w="25400">
            <a:solidFill>
              <a:srgbClr val="FFC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40112" y="157276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IMPORTANT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040112" y="1755648"/>
            <a:ext cx="15910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b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shown are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b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BENCHMARKS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b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cited sources.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b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Client-specific baseline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b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opportunity sizing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b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determined during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b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phase.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34290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Impact by Process Step: Industry Benchmark Scenarios (per €100M Revenue)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11430000" cy="1783080"/>
        </p:xfrm>
        <a:graphic>
          <a:graphicData uri="http://schemas.openxmlformats.org/drawingml/2006/table">
            <a:tbl>
              <a:tblPr/>
              <a:tblGrid>
                <a:gridCol w="91440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AG→Mkt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€/€100M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+€0.7M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-€2.0M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-€0.7M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-€0.3M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-€3.3M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+€2M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-8.7pp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€/€100M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+€0.3M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-€4.0M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-€1.3M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-€0.7M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-€8.7M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+€4M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Focus: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6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457200" y="5852160"/>
            <a:ext cx="11430000" cy="411480"/>
          </a:xfrm>
          <a:prstGeom prst="rect">
            <a:avLst/>
          </a:prstGeom>
          <a:solidFill>
            <a:srgbClr val="FFF4E6"/>
          </a:solidFill>
          <a:ln w="25400">
            <a:solidFill>
              <a:srgbClr val="FFC0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5897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Step 6 (Discount Governance) shows 2x variation between premium and average OEMs (€2M vs €4M per €100M). Industry data consistently shows 40-60% of total margin leakage occurs at this execution stage. Baseline assessment required to determine client-specific opportunity.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57200" y="61081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McKinsey Pricing Waterfall Studies | Bain &amp; Company Aftermarket Reports | Roland Berger OEM Economics | IHS/S&amp;P Global Mobility | CLEPA European Supplier Data</a:t>
            </a:r>
            <a:endParaRPr lang="en-US" sz="7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All values are industry benchmarks from cited sources. Client baseline and opportunity sizing to be determined during discovery phase.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9418320" y="61996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RFP Response |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2026-02-23T17:17:41Z</dcterms:created>
  <dcterms:modified xsi:type="dcterms:W3CDTF">2026-02-23T17:17:41Z</dcterms:modified>
</cp:coreProperties>
</file>