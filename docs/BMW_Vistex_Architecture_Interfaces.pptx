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Vistex GTMS Solution Architecture for BMW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Integrated Pricing Platform on SAP Business Technology Platform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2011680"/>
            <a:ext cx="2011680" cy="2743200"/>
          </a:xfrm>
          <a:prstGeom prst="rect">
            <a:avLst/>
          </a:prstGeom>
          <a:solidFill>
            <a:srgbClr val="00A896">
              <a:alpha val="80000"/>
            </a:srgbClr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1031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BMW SYSTEMS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560320"/>
            <a:ext cx="18288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56032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F3C7E"/>
                </a:solidFill>
              </a:rPr>
              <a:t>ATLAS/PLANET (SAP ECC)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2880360"/>
            <a:ext cx="18288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88036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F3C7E"/>
                </a:solidFill>
              </a:rPr>
              <a:t>CAESAR/NWS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3200400"/>
            <a:ext cx="18288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20040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F3C7E"/>
                </a:solidFill>
              </a:rPr>
              <a:t>Technical Release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8640" y="3520440"/>
            <a:ext cx="18288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5204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F3C7E"/>
                </a:solidFill>
              </a:rPr>
              <a:t>TPS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8640" y="3840480"/>
            <a:ext cx="18288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84048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F3C7E"/>
                </a:solidFill>
              </a:rPr>
              <a:t>MDBB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8640" y="4160520"/>
            <a:ext cx="18288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16052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F3C7E"/>
                </a:solidFill>
              </a:rPr>
              <a:t>GPS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8640" y="4480560"/>
            <a:ext cx="18288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48056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F3C7E"/>
                </a:solidFill>
              </a:rPr>
              <a:t>Group Directory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0" y="2011680"/>
            <a:ext cx="1645920" cy="2743200"/>
          </a:xfrm>
          <a:prstGeom prst="rect">
            <a:avLst/>
          </a:prstGeom>
          <a:solidFill>
            <a:srgbClr val="02C39A">
              <a:alpha val="70000"/>
            </a:srgbClr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0" y="21031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834640" y="2651760"/>
            <a:ext cx="14630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834640" y="265176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F3C7E"/>
                </a:solidFill>
              </a:rPr>
              <a:t>Confluent/Kafka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834640" y="2971800"/>
            <a:ext cx="14630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834640" y="297180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F3C7E"/>
                </a:solidFill>
              </a:rPr>
              <a:t>ETL Informatica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834640" y="3291840"/>
            <a:ext cx="14630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834640" y="329184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F3C7E"/>
                </a:solidFill>
              </a:rPr>
              <a:t>File Transfer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834640" y="3611880"/>
            <a:ext cx="14630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834640" y="361188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F3C7E"/>
                </a:solidFill>
              </a:rPr>
              <a:t>DB Views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834640" y="3931920"/>
            <a:ext cx="14630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834640" y="393192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F3C7E"/>
                </a:solidFill>
              </a:rPr>
              <a:t>MQS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834640" y="4251960"/>
            <a:ext cx="14630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834640" y="425196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F3C7E"/>
                </a:solidFill>
              </a:rPr>
              <a:t>REST APIs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663440" y="2011680"/>
            <a:ext cx="2103120" cy="2743200"/>
          </a:xfrm>
          <a:prstGeom prst="rect">
            <a:avLst/>
          </a:prstGeom>
          <a:solidFill>
            <a:srgbClr val="028090">
              <a:alpha val="80000"/>
            </a:srgbClr>
          </a:solidFill>
          <a:ln w="38100">
            <a:solidFill>
              <a:srgbClr val="02809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63440" y="21031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SAP BTP +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VISTEX GTMS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4754880" y="2651760"/>
            <a:ext cx="19202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54880" y="265176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3C7E"/>
                </a:solidFill>
              </a:rPr>
              <a:t>Price Management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754880" y="2971800"/>
            <a:ext cx="19202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54880" y="297180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3C7E"/>
                </a:solidFill>
              </a:rPr>
              <a:t>Master Data Mgmt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754880" y="3291840"/>
            <a:ext cx="19202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54880" y="329184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3C7E"/>
                </a:solidFill>
              </a:rPr>
              <a:t>Workflow Engine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754880" y="3611880"/>
            <a:ext cx="19202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54880" y="361188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3C7E"/>
                </a:solidFill>
              </a:rPr>
              <a:t>Approval Engine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754880" y="3931920"/>
            <a:ext cx="19202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54880" y="39319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3C7E"/>
                </a:solidFill>
              </a:rPr>
              <a:t>Analytics &amp; Reports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754880" y="4251960"/>
            <a:ext cx="19202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54880" y="425196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3C7E"/>
                </a:solidFill>
              </a:rPr>
              <a:t>User Management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7040880" y="2011680"/>
            <a:ext cx="1645920" cy="2743200"/>
          </a:xfrm>
          <a:prstGeom prst="rect">
            <a:avLst/>
          </a:prstGeom>
          <a:solidFill>
            <a:srgbClr val="00A896">
              <a:alpha val="80000"/>
            </a:srgbClr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040880" y="21031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SYSTEMS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7132320" y="2651760"/>
            <a:ext cx="14630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132320" y="265176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F3C7E"/>
                </a:solidFill>
              </a:rPr>
              <a:t>PRIMUS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7132320" y="2971800"/>
            <a:ext cx="14630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132320" y="297180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F3C7E"/>
                </a:solidFill>
              </a:rPr>
              <a:t>Local Market DBs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7132320" y="3291840"/>
            <a:ext cx="14630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132320" y="329184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F3C7E"/>
                </a:solidFill>
              </a:rPr>
              <a:t>PLATO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7132320" y="3611880"/>
            <a:ext cx="14630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132320" y="361188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F3C7E"/>
                </a:solidFill>
              </a:rPr>
              <a:t>RASTA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7132320" y="3931920"/>
            <a:ext cx="14630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132320" y="393192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F3C7E"/>
                </a:solidFill>
              </a:rPr>
              <a:t>ILAS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7132320" y="4251960"/>
            <a:ext cx="14630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132320" y="425196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F3C7E"/>
                </a:solidFill>
              </a:rPr>
              <a:t>CDH (AWS)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2468880" y="3291840"/>
            <a:ext cx="228600" cy="137160"/>
          </a:xfrm>
          <a:prstGeom prst="rightArrow">
            <a:avLst/>
          </a:prstGeom>
          <a:solidFill>
            <a:srgbClr val="028090"/>
          </a:solidFill>
          <a:ln/>
        </p:spPr>
      </p:sp>
      <p:sp>
        <p:nvSpPr>
          <p:cNvPr id="63" name="Shape 61"/>
          <p:cNvSpPr/>
          <p:nvPr/>
        </p:nvSpPr>
        <p:spPr>
          <a:xfrm>
            <a:off x="4434840" y="3291840"/>
            <a:ext cx="182880" cy="137160"/>
          </a:xfrm>
          <a:prstGeom prst="rightArrow">
            <a:avLst/>
          </a:prstGeom>
          <a:solidFill>
            <a:srgbClr val="028090"/>
          </a:solidFill>
          <a:ln/>
        </p:spPr>
      </p:sp>
      <p:sp>
        <p:nvSpPr>
          <p:cNvPr id="64" name="Shape 62"/>
          <p:cNvSpPr/>
          <p:nvPr/>
        </p:nvSpPr>
        <p:spPr>
          <a:xfrm>
            <a:off x="6812280" y="3291840"/>
            <a:ext cx="182880" cy="137160"/>
          </a:xfrm>
          <a:prstGeom prst="rightArrow">
            <a:avLst/>
          </a:prstGeom>
          <a:solidFill>
            <a:srgbClr val="028090"/>
          </a:solidFill>
          <a:ln/>
        </p:spPr>
      </p:sp>
      <p:sp>
        <p:nvSpPr>
          <p:cNvPr id="65" name="Shape 63"/>
          <p:cNvSpPr/>
          <p:nvPr/>
        </p:nvSpPr>
        <p:spPr>
          <a:xfrm>
            <a:off x="457200" y="5029200"/>
            <a:ext cx="8229600" cy="1097280"/>
          </a:xfrm>
          <a:prstGeom prst="rect">
            <a:avLst/>
          </a:prstGeom>
          <a:solidFill>
            <a:srgbClr val="F5F5F5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48640" y="51206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Architecture Highlights: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640080" y="544068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F3C7E"/>
                </a:solidFill>
              </a:rPr>
              <a:t>• Cloud-native on SAP BTP with seamless S/4HANA integration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F3C7E"/>
                </a:solidFill>
              </a:rPr>
              <a:t>• Real-time data synchronization via Kafka for Family Codes, Prices, and Assignments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F3C7E"/>
                </a:solidFill>
              </a:rPr>
              <a:t>• Centralized pricing logic with distributed market execution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F3C7E"/>
                </a:solidFill>
              </a:rPr>
              <a:t>• Built-in approval workflows and audit trail capabilities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</a:rPr>
              <a:t>Vistex RFP Response - BMW Aftermarket Pricing Solution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Interface Matrix: Ownership &amp; Implementation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integration landscape with responsibilities and transition management</a:t>
            </a:r>
            <a:endParaRPr lang="en-US" sz="13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280160"/>
          <a:ext cx="8595360" cy="4572000"/>
        </p:xfrm>
        <a:graphic>
          <a:graphicData uri="http://schemas.openxmlformats.org/drawingml/2006/table">
            <a:tbl>
              <a:tblPr/>
              <a:tblGrid>
                <a:gridCol w="1280160"/>
                <a:gridCol w="1188720"/>
                <a:gridCol w="1188720"/>
                <a:gridCol w="914400"/>
                <a:gridCol w="1371600"/>
                <a:gridCol w="1097280"/>
                <a:gridCol w="109728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Interface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Source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Target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Technology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Data Exchanged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Transition Mgr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ATLAS-GTMS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ATLAS/PLANET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GTMS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28090"/>
                          </a:solidFill>
                        </a:rPr>
                        <a:t>Kafka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Part master, costs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BMW IT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BMW IT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TechRelease-GTMS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Tech Release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GTMS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ETL / File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New part data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BMW IT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BMW IT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CAESAR-GTMS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CAESAR/NWS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GTMS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DB Views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Part attributes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BMW IT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BMW IT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MDBB-GTMS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MDBB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GTMS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28090"/>
                          </a:solidFill>
                        </a:rPr>
                        <a:t>Kafka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Master data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BMW IT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Joint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GroupDir-GTMS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Group Directory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SAP BTP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LDAP/SSO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User auth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BMW IT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BMW IT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GTMS-PRIMUS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GTMS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PRIMUS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28090"/>
                          </a:solidFill>
                        </a:rPr>
                        <a:t>Kafka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Central prices, family codes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Vistex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Vistex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GTMS-Markets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GTMS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Market Systems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28090"/>
                          </a:solidFill>
                        </a:rPr>
                        <a:t>Kafka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Price updates, worklists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Vistex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Vistex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BTP-GTMS Core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SAP BTP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GTMS App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Native BTP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Platform services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Vistex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Vistex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GTMS-Analytics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GTMS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SAP Analytics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OData/API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Price KPIs, reports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Vistex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Vistex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GTMS-CDH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GTMS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CDH (AWS)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AWS API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Analytics data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Joint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Joint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GTMS-PLATO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GTMS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PLATO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File / ETL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Catalog data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Joint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Joint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GTMS-ILAS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GTMS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ILAS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ETL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Inventory data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Joint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Joint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5943600"/>
            <a:ext cx="2286000" cy="320040"/>
          </a:xfrm>
          <a:prstGeom prst="rect">
            <a:avLst/>
          </a:prstGeom>
          <a:solidFill>
            <a:srgbClr val="D9EAD3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59436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</a:rPr>
              <a:t>BMW IT Owned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2926080" y="5943600"/>
            <a:ext cx="2286000" cy="320040"/>
          </a:xfrm>
          <a:prstGeom prst="rect">
            <a:avLst/>
          </a:prstGeom>
          <a:solidFill>
            <a:srgbClr val="FCE5CD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926080" y="59436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</a:rPr>
              <a:t>Vistex Owned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394960" y="5943600"/>
            <a:ext cx="2286000" cy="320040"/>
          </a:xfrm>
          <a:prstGeom prst="rect">
            <a:avLst/>
          </a:prstGeom>
          <a:solidFill>
            <a:srgbClr val="FFF4C3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394960" y="59436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</a:rPr>
              <a:t>Joint Ownership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57200" y="64008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028090"/>
                </a:solidFill>
              </a:rPr>
              <a:t>Note: Kafka interfaces marked in TEAL are critical for real-time data synchronization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2026-02-26T18:15:26Z</dcterms:created>
  <dcterms:modified xsi:type="dcterms:W3CDTF">2026-02-26T18:15:26Z</dcterms:modified>
</cp:coreProperties>
</file>