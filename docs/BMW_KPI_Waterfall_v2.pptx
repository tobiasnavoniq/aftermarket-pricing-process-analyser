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Aftermarket Parts Pricing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Waterfall — Mapped to BMW Pricing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3063240"/>
            <a:ext cx="3931920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461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Process Stages  ·  43 Pricing KPIs  ·  Linked to BMW RFI Use Cases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Type Legend: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4361688"/>
            <a:ext cx="182880" cy="1828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4325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Modelling / Optimization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4361688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4325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/ Steering / Monitoring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0" y="4361688"/>
            <a:ext cx="182880" cy="1828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4325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Processing / Integration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 Advisory Work Product  ·  BMW Group Aftersales CA-250/CA-251  ·  CONFIDENTIAL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9601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Aftermarket Pricing Process — KPI Waterfall Overview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144000" y="201168"/>
            <a:ext cx="137160" cy="1371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17373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Modelling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0131552" y="201168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96144" y="17373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/ Steering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1119104" y="201168"/>
            <a:ext cx="137160" cy="1371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83696" y="17373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4592" y="694944"/>
            <a:ext cx="1261872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Structure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431036" y="987552"/>
            <a:ext cx="274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4592" y="1408176"/>
            <a:ext cx="1261872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" y="150876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Code Coverage Rate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219456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in FC ÷ Total active parts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219456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100% — unassigned = unpriced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201168" y="2345436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" y="2386584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5915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Willingness-to-Pay Index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19456" y="2569464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" y="256946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÷ Vehicle residual value segment avg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219456" y="275234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 BMW segmentation logic per UC001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01168" y="3223260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" y="3264408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2369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Accuracy Score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219456" y="3447288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" y="34472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segmented (audit) ÷ Sample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219456" y="36301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driver for all downstream prices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201168" y="4101084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9456" y="41422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114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Threshold Definition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19456" y="4325112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" y="43251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CM% set per family code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219456" y="450799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Four-eyes approval trigger level (FC003)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201168" y="4978908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456" y="502005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99262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Structure Approval Rate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219456" y="5202936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520293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structures ÷ Submitted</a:t>
            </a:r>
            <a:endParaRPr lang="en-US" sz="580" dirty="0"/>
          </a:p>
        </p:txBody>
      </p:sp>
      <p:sp>
        <p:nvSpPr>
          <p:cNvPr id="45" name="Text 43"/>
          <p:cNvSpPr/>
          <p:nvPr/>
        </p:nvSpPr>
        <p:spPr>
          <a:xfrm>
            <a:off x="219456" y="538581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KPI for UC001 sign-off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1463040" y="694944"/>
            <a:ext cx="1261872" cy="658368"/>
          </a:xfrm>
          <a:prstGeom prst="rect">
            <a:avLst/>
          </a:prstGeom>
          <a:solidFill>
            <a:srgbClr val="1E5C9B"/>
          </a:solidFill>
          <a:ln w="12700">
            <a:solidFill>
              <a:srgbClr val="1E5C9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499616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719072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Price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719072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729484" y="987552"/>
            <a:ext cx="274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63040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463040" y="1408176"/>
            <a:ext cx="1261872" cy="45720"/>
          </a:xfrm>
          <a:prstGeom prst="rect">
            <a:avLst/>
          </a:prstGeom>
          <a:solidFill>
            <a:srgbClr val="1E5C9B"/>
          </a:solidFill>
          <a:ln w="12700">
            <a:solidFill>
              <a:srgbClr val="1E5C9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17904" y="150876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45920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 Pricing Cycle Time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517904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36192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seconds: part release → valid price</a:t>
            </a:r>
            <a:endParaRPr lang="en-US" sz="580" dirty="0"/>
          </a:p>
        </p:txBody>
      </p:sp>
      <p:sp>
        <p:nvSpPr>
          <p:cNvPr id="57" name="Text 55"/>
          <p:cNvSpPr/>
          <p:nvPr/>
        </p:nvSpPr>
        <p:spPr>
          <a:xfrm>
            <a:off x="1517904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explicit target: &lt;30 seconds (FC016)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499616" y="229819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17904" y="233934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45920" y="231190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Ex-Factory Cost / RET Ratio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1517904" y="252222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36192" y="25222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÷ RET × 100</a:t>
            </a:r>
            <a:endParaRPr lang="en-US" sz="580" dirty="0"/>
          </a:p>
        </p:txBody>
      </p:sp>
      <p:sp>
        <p:nvSpPr>
          <p:cNvPr id="63" name="Text 61"/>
          <p:cNvSpPr/>
          <p:nvPr/>
        </p:nvSpPr>
        <p:spPr>
          <a:xfrm>
            <a:off x="1517904" y="270510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floor — must always be &lt;100%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1499616" y="312877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17904" y="316992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45920" y="314248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% (GP%)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1517904" y="335280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36192" y="335280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Ex-Factory) ÷ RET × 100</a:t>
            </a:r>
            <a:endParaRPr lang="en-US" sz="580" dirty="0"/>
          </a:p>
        </p:txBody>
      </p:sp>
      <p:sp>
        <p:nvSpPr>
          <p:cNvPr id="69" name="Text 67"/>
          <p:cNvSpPr/>
          <p:nvPr/>
        </p:nvSpPr>
        <p:spPr>
          <a:xfrm>
            <a:off x="1517904" y="353568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&gt;30% for automotive OEM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1499616" y="395935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17904" y="400050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45920" y="39730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% (CM%)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1517904" y="418338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36192" y="41833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Variable Cost) ÷ RET × 100</a:t>
            </a:r>
            <a:endParaRPr lang="en-US" sz="580" dirty="0"/>
          </a:p>
        </p:txBody>
      </p:sp>
      <p:sp>
        <p:nvSpPr>
          <p:cNvPr id="75" name="Text 73"/>
          <p:cNvSpPr/>
          <p:nvPr/>
        </p:nvSpPr>
        <p:spPr>
          <a:xfrm>
            <a:off x="1517904" y="436626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pricing KPI; triggers 4-eyes above threshold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1499616" y="478993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17904" y="483108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45920" y="4803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Proposal Acceptance Rate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1517904" y="501396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536192" y="50139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proposals accepted ÷ Generated</a:t>
            </a:r>
            <a:endParaRPr lang="en-US" sz="580" dirty="0"/>
          </a:p>
        </p:txBody>
      </p:sp>
      <p:sp>
        <p:nvSpPr>
          <p:cNvPr id="81" name="Text 79"/>
          <p:cNvSpPr/>
          <p:nvPr/>
        </p:nvSpPr>
        <p:spPr>
          <a:xfrm>
            <a:off x="1517904" y="519684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segmentation &amp; structure quality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1499616" y="562051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517904" y="566166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45920" y="56342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Error Rate (Preis-Upload)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1517904" y="58445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36192" y="58445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records ÷ Total uploaded (UC004)</a:t>
            </a:r>
            <a:endParaRPr lang="en-US" sz="580" dirty="0"/>
          </a:p>
        </p:txBody>
      </p:sp>
      <p:sp>
        <p:nvSpPr>
          <p:cNvPr id="87" name="Text 85"/>
          <p:cNvSpPr/>
          <p:nvPr/>
        </p:nvSpPr>
        <p:spPr>
          <a:xfrm>
            <a:off x="1517904" y="60274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&lt;1% — data quality indicator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2761488" y="694944"/>
            <a:ext cx="1261872" cy="658368"/>
          </a:xfrm>
          <a:prstGeom prst="rect">
            <a:avLst/>
          </a:prstGeom>
          <a:solidFill>
            <a:srgbClr val="2167AE"/>
          </a:solidFill>
          <a:ln w="12700">
            <a:solidFill>
              <a:srgbClr val="2167A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2798064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3017520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Price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3017520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027932" y="987552"/>
            <a:ext cx="274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61488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2761488" y="1408176"/>
            <a:ext cx="1261872" cy="45720"/>
          </a:xfrm>
          <a:prstGeom prst="rect">
            <a:avLst/>
          </a:prstGeom>
          <a:solidFill>
            <a:srgbClr val="2167AE"/>
          </a:solidFill>
          <a:ln w="12700">
            <a:solidFill>
              <a:srgbClr val="2167A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16352" y="150876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44368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Sum Pass-Through Rate</a:t>
            </a:r>
            <a:endParaRPr lang="en-US" sz="680" dirty="0"/>
          </a:p>
        </p:txBody>
      </p:sp>
      <p:sp>
        <p:nvSpPr>
          <p:cNvPr id="97" name="Shape 95"/>
          <p:cNvSpPr/>
          <p:nvPr/>
        </p:nvSpPr>
        <p:spPr>
          <a:xfrm>
            <a:off x="2816352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834640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applied ÷ Markets notified</a:t>
            </a:r>
            <a:endParaRPr lang="en-US" sz="580" dirty="0"/>
          </a:p>
        </p:txBody>
      </p:sp>
      <p:sp>
        <p:nvSpPr>
          <p:cNvPr id="99" name="Text 97"/>
          <p:cNvSpPr/>
          <p:nvPr/>
        </p:nvSpPr>
        <p:spPr>
          <a:xfrm>
            <a:off x="2816352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inflation compensation KPI (UC005)</a:t>
            </a:r>
            <a:endParaRPr lang="en-US" sz="550" dirty="0"/>
          </a:p>
        </p:txBody>
      </p:sp>
      <p:sp>
        <p:nvSpPr>
          <p:cNvPr id="100" name="Shape 98"/>
          <p:cNvSpPr/>
          <p:nvPr/>
        </p:nvSpPr>
        <p:spPr>
          <a:xfrm>
            <a:off x="2798064" y="2345436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816352" y="2386584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944368" y="235915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Threshold Violation Rate</a:t>
            </a:r>
            <a:endParaRPr lang="en-US" sz="680" dirty="0"/>
          </a:p>
        </p:txBody>
      </p:sp>
      <p:sp>
        <p:nvSpPr>
          <p:cNvPr id="103" name="Shape 101"/>
          <p:cNvSpPr/>
          <p:nvPr/>
        </p:nvSpPr>
        <p:spPr>
          <a:xfrm>
            <a:off x="2816352" y="2569464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834640" y="256946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below min CM ÷ Total parts</a:t>
            </a:r>
            <a:endParaRPr lang="en-US" sz="580" dirty="0"/>
          </a:p>
        </p:txBody>
      </p:sp>
      <p:sp>
        <p:nvSpPr>
          <p:cNvPr id="105" name="Text 103"/>
          <p:cNvSpPr/>
          <p:nvPr/>
        </p:nvSpPr>
        <p:spPr>
          <a:xfrm>
            <a:off x="2816352" y="275234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Zero-tolerance target — triggers mandatory review</a:t>
            </a: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2798064" y="3223260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816352" y="3264408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944368" y="32369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Coverage %</a:t>
            </a:r>
            <a:endParaRPr lang="en-US" sz="680" dirty="0"/>
          </a:p>
        </p:txBody>
      </p:sp>
      <p:sp>
        <p:nvSpPr>
          <p:cNvPr id="109" name="Shape 107"/>
          <p:cNvSpPr/>
          <p:nvPr/>
        </p:nvSpPr>
        <p:spPr>
          <a:xfrm>
            <a:off x="2816352" y="3447288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34472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sum % vs. actual YoY cost inflation</a:t>
            </a:r>
            <a:endParaRPr lang="en-US" sz="580" dirty="0"/>
          </a:p>
        </p:txBody>
      </p:sp>
      <p:sp>
        <p:nvSpPr>
          <p:cNvPr id="111" name="Text 109"/>
          <p:cNvSpPr/>
          <p:nvPr/>
        </p:nvSpPr>
        <p:spPr>
          <a:xfrm>
            <a:off x="2816352" y="36301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real price erosion prevention</a:t>
            </a:r>
            <a:endParaRPr lang="en-US" sz="550" dirty="0"/>
          </a:p>
        </p:txBody>
      </p:sp>
      <p:sp>
        <p:nvSpPr>
          <p:cNvPr id="112" name="Shape 110"/>
          <p:cNvSpPr/>
          <p:nvPr/>
        </p:nvSpPr>
        <p:spPr>
          <a:xfrm>
            <a:off x="2798064" y="4101084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816352" y="41422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944368" y="4114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Approval Cycle Time</a:t>
            </a:r>
            <a:endParaRPr lang="en-US" sz="680" dirty="0"/>
          </a:p>
        </p:txBody>
      </p:sp>
      <p:sp>
        <p:nvSpPr>
          <p:cNvPr id="115" name="Shape 113"/>
          <p:cNvSpPr/>
          <p:nvPr/>
        </p:nvSpPr>
        <p:spPr>
          <a:xfrm>
            <a:off x="2816352" y="4325112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834640" y="43251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price change submitted → approved</a:t>
            </a:r>
            <a:endParaRPr lang="en-US" sz="580" dirty="0"/>
          </a:p>
        </p:txBody>
      </p:sp>
      <p:sp>
        <p:nvSpPr>
          <p:cNvPr id="117" name="Text 115"/>
          <p:cNvSpPr/>
          <p:nvPr/>
        </p:nvSpPr>
        <p:spPr>
          <a:xfrm>
            <a:off x="2816352" y="450799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efficiency KPI (FC003)</a:t>
            </a:r>
            <a:endParaRPr lang="en-US" sz="550" dirty="0"/>
          </a:p>
        </p:txBody>
      </p:sp>
      <p:sp>
        <p:nvSpPr>
          <p:cNvPr id="118" name="Shape 116"/>
          <p:cNvSpPr/>
          <p:nvPr/>
        </p:nvSpPr>
        <p:spPr>
          <a:xfrm>
            <a:off x="2798064" y="4978908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816352" y="502005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944368" y="499262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Completeness Rate</a:t>
            </a:r>
            <a:endParaRPr lang="en-US" sz="680" dirty="0"/>
          </a:p>
        </p:txBody>
      </p:sp>
      <p:sp>
        <p:nvSpPr>
          <p:cNvPr id="121" name="Shape 119"/>
          <p:cNvSpPr/>
          <p:nvPr/>
        </p:nvSpPr>
        <p:spPr>
          <a:xfrm>
            <a:off x="2816352" y="5202936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834640" y="520293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reports generated ÷ Scheduled</a:t>
            </a:r>
            <a:endParaRPr lang="en-US" sz="580" dirty="0"/>
          </a:p>
        </p:txBody>
      </p:sp>
      <p:sp>
        <p:nvSpPr>
          <p:cNvPr id="123" name="Text 121"/>
          <p:cNvSpPr/>
          <p:nvPr/>
        </p:nvSpPr>
        <p:spPr>
          <a:xfrm>
            <a:off x="2816352" y="538581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UC006 — data availability for steering decisions</a:t>
            </a:r>
            <a:endParaRPr lang="en-US" sz="550" dirty="0"/>
          </a:p>
        </p:txBody>
      </p:sp>
      <p:sp>
        <p:nvSpPr>
          <p:cNvPr id="124" name="Shape 122"/>
          <p:cNvSpPr/>
          <p:nvPr/>
        </p:nvSpPr>
        <p:spPr>
          <a:xfrm>
            <a:off x="4059936" y="694944"/>
            <a:ext cx="1261872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4096512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6" name="Text 124"/>
          <p:cNvSpPr/>
          <p:nvPr/>
        </p:nvSpPr>
        <p:spPr>
          <a:xfrm>
            <a:off x="4315968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→ Market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4315968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5326380" y="987552"/>
            <a:ext cx="274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059936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4059936" y="1408176"/>
            <a:ext cx="1261872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114800" y="150876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242816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Notification Lead Time</a:t>
            </a:r>
            <a:endParaRPr lang="en-US" sz="680" dirty="0"/>
          </a:p>
        </p:txBody>
      </p:sp>
      <p:sp>
        <p:nvSpPr>
          <p:cNvPr id="133" name="Shape 131"/>
          <p:cNvSpPr/>
          <p:nvPr/>
        </p:nvSpPr>
        <p:spPr>
          <a:xfrm>
            <a:off x="4114800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133088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Hours: AG price set → PRIMUS worklist entry</a:t>
            </a:r>
            <a:endParaRPr lang="en-US" sz="580" dirty="0"/>
          </a:p>
        </p:txBody>
      </p:sp>
      <p:sp>
        <p:nvSpPr>
          <p:cNvPr id="135" name="Text 133"/>
          <p:cNvSpPr/>
          <p:nvPr/>
        </p:nvSpPr>
        <p:spPr>
          <a:xfrm>
            <a:off x="4114800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Confluent/Kafka integration SLA (IT002)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4096512" y="2345436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14800" y="2386584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242816" y="235915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 Population Rate</a:t>
            </a:r>
            <a:endParaRPr lang="en-US" sz="680" dirty="0"/>
          </a:p>
        </p:txBody>
      </p:sp>
      <p:sp>
        <p:nvSpPr>
          <p:cNvPr id="139" name="Shape 137"/>
          <p:cNvSpPr/>
          <p:nvPr/>
        </p:nvSpPr>
        <p:spPr>
          <a:xfrm>
            <a:off x="4114800" y="2569464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133088" y="256946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notified ÷ Markets in scope</a:t>
            </a:r>
            <a:endParaRPr lang="en-US" sz="580" dirty="0"/>
          </a:p>
        </p:txBody>
      </p:sp>
      <p:sp>
        <p:nvSpPr>
          <p:cNvPr id="141" name="Text 139"/>
          <p:cNvSpPr/>
          <p:nvPr/>
        </p:nvSpPr>
        <p:spPr>
          <a:xfrm>
            <a:off x="4114800" y="275234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target — no market left without trigger</a:t>
            </a:r>
            <a:endParaRPr lang="en-US" sz="550" dirty="0"/>
          </a:p>
        </p:txBody>
      </p:sp>
      <p:sp>
        <p:nvSpPr>
          <p:cNvPr id="142" name="Shape 140"/>
          <p:cNvSpPr/>
          <p:nvPr/>
        </p:nvSpPr>
        <p:spPr>
          <a:xfrm>
            <a:off x="4096512" y="3223260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114800" y="3264408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242816" y="32369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Structure Transfer Accuracy</a:t>
            </a:r>
            <a:endParaRPr lang="en-US" sz="680" dirty="0"/>
          </a:p>
        </p:txBody>
      </p:sp>
      <p:sp>
        <p:nvSpPr>
          <p:cNvPr id="145" name="Shape 143"/>
          <p:cNvSpPr/>
          <p:nvPr/>
        </p:nvSpPr>
        <p:spPr>
          <a:xfrm>
            <a:off x="4114800" y="3447288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133088" y="34472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transferred rules ÷ Total rules</a:t>
            </a:r>
            <a:endParaRPr lang="en-US" sz="580" dirty="0"/>
          </a:p>
        </p:txBody>
      </p:sp>
      <p:sp>
        <p:nvSpPr>
          <p:cNvPr id="147" name="Text 145"/>
          <p:cNvSpPr/>
          <p:nvPr/>
        </p:nvSpPr>
        <p:spPr>
          <a:xfrm>
            <a:off x="4114800" y="36301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code + segment rules must transfer intact</a:t>
            </a:r>
            <a:endParaRPr lang="en-US" sz="550" dirty="0"/>
          </a:p>
        </p:txBody>
      </p:sp>
      <p:sp>
        <p:nvSpPr>
          <p:cNvPr id="148" name="Shape 146"/>
          <p:cNvSpPr/>
          <p:nvPr/>
        </p:nvSpPr>
        <p:spPr>
          <a:xfrm>
            <a:off x="4096512" y="4101084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114800" y="41422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42816" y="4114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Enablement Completeness</a:t>
            </a:r>
            <a:endParaRPr lang="en-US" sz="680" dirty="0"/>
          </a:p>
        </p:txBody>
      </p:sp>
      <p:sp>
        <p:nvSpPr>
          <p:cNvPr id="151" name="Shape 149"/>
          <p:cNvSpPr/>
          <p:nvPr/>
        </p:nvSpPr>
        <p:spPr>
          <a:xfrm>
            <a:off x="4114800" y="4325112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133088" y="43251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with full governance params ÷ Total</a:t>
            </a:r>
            <a:endParaRPr lang="en-US" sz="580" dirty="0"/>
          </a:p>
        </p:txBody>
      </p:sp>
      <p:sp>
        <p:nvSpPr>
          <p:cNvPr id="153" name="Text 151"/>
          <p:cNvSpPr/>
          <p:nvPr/>
        </p:nvSpPr>
        <p:spPr>
          <a:xfrm>
            <a:off x="4114800" y="450799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UCNew02 — all retail factors, BD, rounding rules set</a:t>
            </a:r>
            <a:endParaRPr lang="en-US" sz="550" dirty="0"/>
          </a:p>
        </p:txBody>
      </p:sp>
      <p:sp>
        <p:nvSpPr>
          <p:cNvPr id="154" name="Shape 152"/>
          <p:cNvSpPr/>
          <p:nvPr/>
        </p:nvSpPr>
        <p:spPr>
          <a:xfrm>
            <a:off x="5358384" y="694944"/>
            <a:ext cx="1261872" cy="658368"/>
          </a:xfrm>
          <a:prstGeom prst="rect">
            <a:avLst/>
          </a:prstGeom>
          <a:solidFill>
            <a:srgbClr val="3A8FD1"/>
          </a:solidFill>
          <a:ln w="12700">
            <a:solidFill>
              <a:srgbClr val="3A8FD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5" name="Text 153"/>
          <p:cNvSpPr/>
          <p:nvPr/>
        </p:nvSpPr>
        <p:spPr>
          <a:xfrm>
            <a:off x="5394960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6" name="Text 154"/>
          <p:cNvSpPr/>
          <p:nvPr/>
        </p:nvSpPr>
        <p:spPr>
          <a:xfrm>
            <a:off x="5614416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5614416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650" dirty="0"/>
          </a:p>
        </p:txBody>
      </p:sp>
      <p:sp>
        <p:nvSpPr>
          <p:cNvPr id="158" name="Shape 156"/>
          <p:cNvSpPr/>
          <p:nvPr/>
        </p:nvSpPr>
        <p:spPr>
          <a:xfrm>
            <a:off x="6624828" y="987552"/>
            <a:ext cx="274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58384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0" name="Shape 158"/>
          <p:cNvSpPr/>
          <p:nvPr/>
        </p:nvSpPr>
        <p:spPr>
          <a:xfrm>
            <a:off x="5358384" y="1408176"/>
            <a:ext cx="1261872" cy="45720"/>
          </a:xfrm>
          <a:prstGeom prst="rect">
            <a:avLst/>
          </a:prstGeom>
          <a:solidFill>
            <a:srgbClr val="3A8FD1"/>
          </a:solidFill>
          <a:ln w="12700">
            <a:solidFill>
              <a:srgbClr val="3A8FD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413248" y="150876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541264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Retail Price (MRP)</a:t>
            </a:r>
            <a:endParaRPr lang="en-US" sz="680" dirty="0"/>
          </a:p>
        </p:txBody>
      </p:sp>
      <p:sp>
        <p:nvSpPr>
          <p:cNvPr id="163" name="Shape 161"/>
          <p:cNvSpPr/>
          <p:nvPr/>
        </p:nvSpPr>
        <p:spPr>
          <a:xfrm>
            <a:off x="5413248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431536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RET × Retail Factor (by Family Code)</a:t>
            </a:r>
            <a:endParaRPr lang="en-US" sz="580" dirty="0"/>
          </a:p>
        </p:txBody>
      </p:sp>
      <p:sp>
        <p:nvSpPr>
          <p:cNvPr id="165" name="Text 163"/>
          <p:cNvSpPr/>
          <p:nvPr/>
        </p:nvSpPr>
        <p:spPr>
          <a:xfrm>
            <a:off x="5413248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 output KPI (UC007)</a:t>
            </a:r>
            <a:endParaRPr lang="en-US" sz="550" dirty="0"/>
          </a:p>
        </p:txBody>
      </p:sp>
      <p:sp>
        <p:nvSpPr>
          <p:cNvPr id="166" name="Shape 164"/>
          <p:cNvSpPr/>
          <p:nvPr/>
        </p:nvSpPr>
        <p:spPr>
          <a:xfrm>
            <a:off x="5394960" y="229819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413248" y="233934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541264" y="231190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Dealer Net (MDN)</a:t>
            </a:r>
            <a:endParaRPr lang="en-US" sz="680" dirty="0"/>
          </a:p>
        </p:txBody>
      </p:sp>
      <p:sp>
        <p:nvSpPr>
          <p:cNvPr id="169" name="Shape 167"/>
          <p:cNvSpPr/>
          <p:nvPr/>
        </p:nvSpPr>
        <p:spPr>
          <a:xfrm>
            <a:off x="5413248" y="252222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5431536" y="25222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− Base Difference</a:t>
            </a:r>
            <a:endParaRPr lang="en-US" sz="580" dirty="0"/>
          </a:p>
        </p:txBody>
      </p:sp>
      <p:sp>
        <p:nvSpPr>
          <p:cNvPr id="171" name="Text 169"/>
          <p:cNvSpPr/>
          <p:nvPr/>
        </p:nvSpPr>
        <p:spPr>
          <a:xfrm>
            <a:off x="5413248" y="270510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dealer purchase price (UC007)</a:t>
            </a:r>
            <a:endParaRPr lang="en-US" sz="550" dirty="0"/>
          </a:p>
        </p:txBody>
      </p:sp>
      <p:sp>
        <p:nvSpPr>
          <p:cNvPr id="172" name="Shape 170"/>
          <p:cNvSpPr/>
          <p:nvPr/>
        </p:nvSpPr>
        <p:spPr>
          <a:xfrm>
            <a:off x="5394960" y="312877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413248" y="316992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541264" y="314248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Lag Impact (CM Δ)</a:t>
            </a:r>
            <a:endParaRPr lang="en-US" sz="680" dirty="0"/>
          </a:p>
        </p:txBody>
      </p:sp>
      <p:sp>
        <p:nvSpPr>
          <p:cNvPr id="175" name="Shape 173"/>
          <p:cNvSpPr/>
          <p:nvPr/>
        </p:nvSpPr>
        <p:spPr>
          <a:xfrm>
            <a:off x="5413248" y="335280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431536" y="335280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loss from outdated FX rates</a:t>
            </a:r>
            <a:endParaRPr lang="en-US" sz="580" dirty="0"/>
          </a:p>
        </p:txBody>
      </p:sp>
      <p:sp>
        <p:nvSpPr>
          <p:cNvPr id="177" name="Text 175"/>
          <p:cNvSpPr/>
          <p:nvPr/>
        </p:nvSpPr>
        <p:spPr>
          <a:xfrm>
            <a:off x="5413248" y="353568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UC012 — system rate vs. budget rate delta</a:t>
            </a:r>
            <a:endParaRPr lang="en-US" sz="550" dirty="0"/>
          </a:p>
        </p:txBody>
      </p:sp>
      <p:sp>
        <p:nvSpPr>
          <p:cNvPr id="178" name="Shape 176"/>
          <p:cNvSpPr/>
          <p:nvPr/>
        </p:nvSpPr>
        <p:spPr>
          <a:xfrm>
            <a:off x="5394960" y="395935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413248" y="400050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541264" y="39730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Compliance Rate</a:t>
            </a:r>
            <a:endParaRPr lang="en-US" sz="680" dirty="0"/>
          </a:p>
        </p:txBody>
      </p:sp>
      <p:sp>
        <p:nvSpPr>
          <p:cNvPr id="181" name="Shape 179"/>
          <p:cNvSpPr/>
          <p:nvPr/>
        </p:nvSpPr>
        <p:spPr>
          <a:xfrm>
            <a:off x="5413248" y="418338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431536" y="41833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rounded prices ÷ Total market prices</a:t>
            </a:r>
            <a:endParaRPr lang="en-US" sz="580" dirty="0"/>
          </a:p>
        </p:txBody>
      </p:sp>
      <p:sp>
        <p:nvSpPr>
          <p:cNvPr id="183" name="Text 181"/>
          <p:cNvSpPr/>
          <p:nvPr/>
        </p:nvSpPr>
        <p:spPr>
          <a:xfrm>
            <a:off x="5413248" y="436626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UC011 — different rounding rules per market</a:t>
            </a:r>
            <a:endParaRPr lang="en-US" sz="550" dirty="0"/>
          </a:p>
        </p:txBody>
      </p:sp>
      <p:sp>
        <p:nvSpPr>
          <p:cNvPr id="184" name="Shape 182"/>
          <p:cNvSpPr/>
          <p:nvPr/>
        </p:nvSpPr>
        <p:spPr>
          <a:xfrm>
            <a:off x="5394960" y="478993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413248" y="483108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541264" y="4803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Margin Simulation Accuracy</a:t>
            </a:r>
            <a:endParaRPr lang="en-US" sz="680" dirty="0"/>
          </a:p>
        </p:txBody>
      </p:sp>
      <p:sp>
        <p:nvSpPr>
          <p:cNvPr id="187" name="Shape 185"/>
          <p:cNvSpPr/>
          <p:nvPr/>
        </p:nvSpPr>
        <p:spPr>
          <a:xfrm>
            <a:off x="5413248" y="501396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431536" y="50139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GP% vs. actual GP% after activation</a:t>
            </a:r>
            <a:endParaRPr lang="en-US" sz="580" dirty="0"/>
          </a:p>
        </p:txBody>
      </p:sp>
      <p:sp>
        <p:nvSpPr>
          <p:cNvPr id="189" name="Text 187"/>
          <p:cNvSpPr/>
          <p:nvPr/>
        </p:nvSpPr>
        <p:spPr>
          <a:xfrm>
            <a:off x="5413248" y="519684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UC007 — margin simulation before setting live</a:t>
            </a:r>
            <a:endParaRPr lang="en-US" sz="550" dirty="0"/>
          </a:p>
        </p:txBody>
      </p:sp>
      <p:sp>
        <p:nvSpPr>
          <p:cNvPr id="190" name="Shape 188"/>
          <p:cNvSpPr/>
          <p:nvPr/>
        </p:nvSpPr>
        <p:spPr>
          <a:xfrm>
            <a:off x="5394960" y="562051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413248" y="566166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541264" y="56342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(Pfand) Coverage Rate</a:t>
            </a:r>
            <a:endParaRPr lang="en-US" sz="680" dirty="0"/>
          </a:p>
        </p:txBody>
      </p:sp>
      <p:sp>
        <p:nvSpPr>
          <p:cNvPr id="193" name="Shape 191"/>
          <p:cNvSpPr/>
          <p:nvPr/>
        </p:nvSpPr>
        <p:spPr>
          <a:xfrm>
            <a:off x="5413248" y="58445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431536" y="58445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with deposit prices set ÷ Eligible</a:t>
            </a:r>
            <a:endParaRPr lang="en-US" sz="580" dirty="0"/>
          </a:p>
        </p:txBody>
      </p:sp>
      <p:sp>
        <p:nvSpPr>
          <p:cNvPr id="195" name="Text 193"/>
          <p:cNvSpPr/>
          <p:nvPr/>
        </p:nvSpPr>
        <p:spPr>
          <a:xfrm>
            <a:off x="5413248" y="60274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UC009 (Market) — must mirror central deposit (UC009 AG)</a:t>
            </a:r>
            <a:endParaRPr lang="en-US" sz="550" dirty="0"/>
          </a:p>
        </p:txBody>
      </p:sp>
      <p:sp>
        <p:nvSpPr>
          <p:cNvPr id="196" name="Shape 194"/>
          <p:cNvSpPr/>
          <p:nvPr/>
        </p:nvSpPr>
        <p:spPr>
          <a:xfrm>
            <a:off x="6656832" y="694944"/>
            <a:ext cx="1261872" cy="658368"/>
          </a:xfrm>
          <a:prstGeom prst="rect">
            <a:avLst/>
          </a:prstGeom>
          <a:solidFill>
            <a:srgbClr val="4FA0D8"/>
          </a:solidFill>
          <a:ln w="12700">
            <a:solidFill>
              <a:srgbClr val="4FA0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6693408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98" name="Text 196"/>
          <p:cNvSpPr/>
          <p:nvPr/>
        </p:nvSpPr>
        <p:spPr>
          <a:xfrm>
            <a:off x="6912864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800" dirty="0"/>
          </a:p>
        </p:txBody>
      </p:sp>
      <p:sp>
        <p:nvSpPr>
          <p:cNvPr id="199" name="Text 197"/>
          <p:cNvSpPr/>
          <p:nvPr/>
        </p:nvSpPr>
        <p:spPr>
          <a:xfrm>
            <a:off x="6912864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7923276" y="987552"/>
            <a:ext cx="274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656832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2" name="Shape 200"/>
          <p:cNvSpPr/>
          <p:nvPr/>
        </p:nvSpPr>
        <p:spPr>
          <a:xfrm>
            <a:off x="6656832" y="1408176"/>
            <a:ext cx="1261872" cy="45720"/>
          </a:xfrm>
          <a:prstGeom prst="rect">
            <a:avLst/>
          </a:prstGeom>
          <a:solidFill>
            <a:srgbClr val="4FA0D8"/>
          </a:solidFill>
          <a:ln w="12700">
            <a:solidFill>
              <a:srgbClr val="4FA0D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711696" y="150876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839712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 Gross Profit % (GP Floor)</a:t>
            </a:r>
            <a:endParaRPr lang="en-US" sz="680" dirty="0"/>
          </a:p>
        </p:txBody>
      </p:sp>
      <p:sp>
        <p:nvSpPr>
          <p:cNvPr id="205" name="Shape 203"/>
          <p:cNvSpPr/>
          <p:nvPr/>
        </p:nvSpPr>
        <p:spPr>
          <a:xfrm>
            <a:off x="6711696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729984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(MRP − MDN) ÷ MRP × 100 vs. min threshold</a:t>
            </a:r>
            <a:endParaRPr lang="en-US" sz="580" dirty="0"/>
          </a:p>
        </p:txBody>
      </p:sp>
      <p:sp>
        <p:nvSpPr>
          <p:cNvPr id="207" name="Text 205"/>
          <p:cNvSpPr/>
          <p:nvPr/>
        </p:nvSpPr>
        <p:spPr>
          <a:xfrm>
            <a:off x="6711696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market alert trigger in PRIMUS (FC023)</a:t>
            </a:r>
            <a:endParaRPr lang="en-US" sz="550" dirty="0"/>
          </a:p>
        </p:txBody>
      </p:sp>
      <p:sp>
        <p:nvSpPr>
          <p:cNvPr id="208" name="Shape 206"/>
          <p:cNvSpPr/>
          <p:nvPr/>
        </p:nvSpPr>
        <p:spPr>
          <a:xfrm>
            <a:off x="6693408" y="229819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711696" y="233934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6839712" y="231190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Price Index (CPI)</a:t>
            </a:r>
            <a:endParaRPr lang="en-US" sz="680" dirty="0"/>
          </a:p>
        </p:txBody>
      </p:sp>
      <p:sp>
        <p:nvSpPr>
          <p:cNvPr id="211" name="Shape 209"/>
          <p:cNvSpPr/>
          <p:nvPr/>
        </p:nvSpPr>
        <p:spPr>
          <a:xfrm>
            <a:off x="6711696" y="252222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729984" y="25222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MRP ÷ Best IAM price × 100</a:t>
            </a:r>
            <a:endParaRPr lang="en-US" sz="580" dirty="0"/>
          </a:p>
        </p:txBody>
      </p:sp>
      <p:sp>
        <p:nvSpPr>
          <p:cNvPr id="213" name="Text 211"/>
          <p:cNvSpPr/>
          <p:nvPr/>
        </p:nvSpPr>
        <p:spPr>
          <a:xfrm>
            <a:off x="6711696" y="270510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trigger — CPI &lt;110 = at risk (FC012)</a:t>
            </a:r>
            <a:endParaRPr lang="en-US" sz="550" dirty="0"/>
          </a:p>
        </p:txBody>
      </p:sp>
      <p:sp>
        <p:nvSpPr>
          <p:cNvPr id="214" name="Shape 212"/>
          <p:cNvSpPr/>
          <p:nvPr/>
        </p:nvSpPr>
        <p:spPr>
          <a:xfrm>
            <a:off x="6693408" y="312877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711696" y="316992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839712" y="314248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Price Rate</a:t>
            </a:r>
            <a:endParaRPr lang="en-US" sz="680" dirty="0"/>
          </a:p>
        </p:txBody>
      </p:sp>
      <p:sp>
        <p:nvSpPr>
          <p:cNvPr id="217" name="Shape 215"/>
          <p:cNvSpPr/>
          <p:nvPr/>
        </p:nvSpPr>
        <p:spPr>
          <a:xfrm>
            <a:off x="6711696" y="335280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6729984" y="335280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priced parts ÷ Total market parts</a:t>
            </a:r>
            <a:endParaRPr lang="en-US" sz="580" dirty="0"/>
          </a:p>
        </p:txBody>
      </p:sp>
      <p:sp>
        <p:nvSpPr>
          <p:cNvPr id="219" name="Text 217"/>
          <p:cNvSpPr/>
          <p:nvPr/>
        </p:nvSpPr>
        <p:spPr>
          <a:xfrm>
            <a:off x="6711696" y="353568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 = retail factor misfit for family code</a:t>
            </a:r>
            <a:endParaRPr lang="en-US" sz="550" dirty="0"/>
          </a:p>
        </p:txBody>
      </p:sp>
      <p:sp>
        <p:nvSpPr>
          <p:cNvPr id="220" name="Shape 218"/>
          <p:cNvSpPr/>
          <p:nvPr/>
        </p:nvSpPr>
        <p:spPr>
          <a:xfrm>
            <a:off x="6693408" y="395935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711696" y="400050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6839712" y="39730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Approval Cycle Time</a:t>
            </a:r>
            <a:endParaRPr lang="en-US" sz="680" dirty="0"/>
          </a:p>
        </p:txBody>
      </p:sp>
      <p:sp>
        <p:nvSpPr>
          <p:cNvPr id="223" name="Shape 221"/>
          <p:cNvSpPr/>
          <p:nvPr/>
        </p:nvSpPr>
        <p:spPr>
          <a:xfrm>
            <a:off x="6711696" y="418338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729984" y="41833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trigger flagged → approved price live</a:t>
            </a:r>
            <a:endParaRPr lang="en-US" sz="580" dirty="0"/>
          </a:p>
        </p:txBody>
      </p:sp>
      <p:sp>
        <p:nvSpPr>
          <p:cNvPr id="225" name="Text 223"/>
          <p:cNvSpPr/>
          <p:nvPr/>
        </p:nvSpPr>
        <p:spPr>
          <a:xfrm>
            <a:off x="6711696" y="436626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governance KPI (FC022)</a:t>
            </a:r>
            <a:endParaRPr lang="en-US" sz="550" dirty="0"/>
          </a:p>
        </p:txBody>
      </p:sp>
      <p:sp>
        <p:nvSpPr>
          <p:cNvPr id="226" name="Shape 224"/>
          <p:cNvSpPr/>
          <p:nvPr/>
        </p:nvSpPr>
        <p:spPr>
          <a:xfrm>
            <a:off x="6693408" y="478993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711696" y="483108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6839712" y="4803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Impact Simulation Accuracy</a:t>
            </a:r>
            <a:endParaRPr lang="en-US" sz="680" dirty="0"/>
          </a:p>
        </p:txBody>
      </p:sp>
      <p:sp>
        <p:nvSpPr>
          <p:cNvPr id="229" name="Shape 227"/>
          <p:cNvSpPr/>
          <p:nvPr/>
        </p:nvSpPr>
        <p:spPr>
          <a:xfrm>
            <a:off x="6711696" y="501396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729984" y="50139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volume Δ vs. actual after change</a:t>
            </a:r>
            <a:endParaRPr lang="en-US" sz="580" dirty="0"/>
          </a:p>
        </p:txBody>
      </p:sp>
      <p:sp>
        <p:nvSpPr>
          <p:cNvPr id="231" name="Text 229"/>
          <p:cNvSpPr/>
          <p:nvPr/>
        </p:nvSpPr>
        <p:spPr>
          <a:xfrm>
            <a:off x="6711696" y="519684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UC008 — simulate margin &amp; volume before approval</a:t>
            </a:r>
            <a:endParaRPr lang="en-US" sz="550" dirty="0"/>
          </a:p>
        </p:txBody>
      </p:sp>
      <p:sp>
        <p:nvSpPr>
          <p:cNvPr id="232" name="Shape 230"/>
          <p:cNvSpPr/>
          <p:nvPr/>
        </p:nvSpPr>
        <p:spPr>
          <a:xfrm>
            <a:off x="6693408" y="562051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711696" y="566166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6839712" y="56342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Validity Scheduling Rate</a:t>
            </a:r>
            <a:endParaRPr lang="en-US" sz="680" dirty="0"/>
          </a:p>
        </p:txBody>
      </p:sp>
      <p:sp>
        <p:nvSpPr>
          <p:cNvPr id="235" name="Shape 233"/>
          <p:cNvSpPr/>
          <p:nvPr/>
        </p:nvSpPr>
        <p:spPr>
          <a:xfrm>
            <a:off x="6711696" y="58445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6729984" y="58445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with future date set ÷ Total changes</a:t>
            </a:r>
            <a:endParaRPr lang="en-US" sz="580" dirty="0"/>
          </a:p>
        </p:txBody>
      </p:sp>
      <p:sp>
        <p:nvSpPr>
          <p:cNvPr id="237" name="Text 235"/>
          <p:cNvSpPr/>
          <p:nvPr/>
        </p:nvSpPr>
        <p:spPr>
          <a:xfrm>
            <a:off x="6711696" y="60274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UC008 — schedule future validity (no retroactive prices)</a:t>
            </a:r>
            <a:endParaRPr lang="en-US" sz="550" dirty="0"/>
          </a:p>
        </p:txBody>
      </p:sp>
      <p:sp>
        <p:nvSpPr>
          <p:cNvPr id="238" name="Shape 236"/>
          <p:cNvSpPr/>
          <p:nvPr/>
        </p:nvSpPr>
        <p:spPr>
          <a:xfrm>
            <a:off x="7955280" y="694944"/>
            <a:ext cx="1261872" cy="658368"/>
          </a:xfrm>
          <a:prstGeom prst="rect">
            <a:avLst/>
          </a:prstGeom>
          <a:solidFill>
            <a:srgbClr val="63AFDD"/>
          </a:solidFill>
          <a:ln w="12700">
            <a:solidFill>
              <a:srgbClr val="63AF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9" name="Text 237"/>
          <p:cNvSpPr/>
          <p:nvPr/>
        </p:nvSpPr>
        <p:spPr>
          <a:xfrm>
            <a:off x="7991856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0" name="Text 238"/>
          <p:cNvSpPr/>
          <p:nvPr/>
        </p:nvSpPr>
        <p:spPr>
          <a:xfrm>
            <a:off x="8211312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&amp;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Prices</a:t>
            </a:r>
            <a:endParaRPr lang="en-US" sz="800" dirty="0"/>
          </a:p>
        </p:txBody>
      </p:sp>
      <p:sp>
        <p:nvSpPr>
          <p:cNvPr id="241" name="Text 239"/>
          <p:cNvSpPr/>
          <p:nvPr/>
        </p:nvSpPr>
        <p:spPr>
          <a:xfrm>
            <a:off x="8211312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650" dirty="0"/>
          </a:p>
        </p:txBody>
      </p:sp>
      <p:sp>
        <p:nvSpPr>
          <p:cNvPr id="242" name="Shape 240"/>
          <p:cNvSpPr/>
          <p:nvPr/>
        </p:nvSpPr>
        <p:spPr>
          <a:xfrm>
            <a:off x="9221724" y="987552"/>
            <a:ext cx="274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955280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4" name="Shape 242"/>
          <p:cNvSpPr/>
          <p:nvPr/>
        </p:nvSpPr>
        <p:spPr>
          <a:xfrm>
            <a:off x="7955280" y="1408176"/>
            <a:ext cx="1261872" cy="45720"/>
          </a:xfrm>
          <a:prstGeom prst="rect">
            <a:avLst/>
          </a:prstGeom>
          <a:solidFill>
            <a:srgbClr val="63AFDD"/>
          </a:solidFill>
          <a:ln w="12700">
            <a:solidFill>
              <a:srgbClr val="63AFDD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10144" y="150876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8138160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Price Restoration Rate</a:t>
            </a:r>
            <a:endParaRPr lang="en-US" sz="680" dirty="0"/>
          </a:p>
        </p:txBody>
      </p:sp>
      <p:sp>
        <p:nvSpPr>
          <p:cNvPr id="247" name="Shape 245"/>
          <p:cNvSpPr/>
          <p:nvPr/>
        </p:nvSpPr>
        <p:spPr>
          <a:xfrm>
            <a:off x="8010144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8028432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Auto-restored ÷ Expired campaign prices</a:t>
            </a:r>
            <a:endParaRPr lang="en-US" sz="580" dirty="0"/>
          </a:p>
        </p:txBody>
      </p:sp>
      <p:sp>
        <p:nvSpPr>
          <p:cNvPr id="249" name="Text 247"/>
          <p:cNvSpPr/>
          <p:nvPr/>
        </p:nvSpPr>
        <p:spPr>
          <a:xfrm>
            <a:off x="8010144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UC010 — auto-revert after expiry is critical (UC 3.10)</a:t>
            </a:r>
            <a:endParaRPr lang="en-US" sz="550" dirty="0"/>
          </a:p>
        </p:txBody>
      </p:sp>
      <p:sp>
        <p:nvSpPr>
          <p:cNvPr id="250" name="Shape 248"/>
          <p:cNvSpPr/>
          <p:nvPr/>
        </p:nvSpPr>
        <p:spPr>
          <a:xfrm>
            <a:off x="7991856" y="2345436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010144" y="2386584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8138160" y="235915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Customer Discount %</a:t>
            </a:r>
            <a:endParaRPr lang="en-US" sz="680" dirty="0"/>
          </a:p>
        </p:txBody>
      </p:sp>
      <p:sp>
        <p:nvSpPr>
          <p:cNvPr id="253" name="Shape 251"/>
          <p:cNvSpPr/>
          <p:nvPr/>
        </p:nvSpPr>
        <p:spPr>
          <a:xfrm>
            <a:off x="8010144" y="2569464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8028432" y="256946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(List − Special Price) ÷ List × 100</a:t>
            </a:r>
            <a:endParaRPr lang="en-US" sz="580" dirty="0"/>
          </a:p>
        </p:txBody>
      </p:sp>
      <p:sp>
        <p:nvSpPr>
          <p:cNvPr id="255" name="Text 253"/>
          <p:cNvSpPr/>
          <p:nvPr/>
        </p:nvSpPr>
        <p:spPr>
          <a:xfrm>
            <a:off x="8010144" y="275234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UC013 — by group: importer/authority/industry</a:t>
            </a:r>
            <a:endParaRPr lang="en-US" sz="550" dirty="0"/>
          </a:p>
        </p:txBody>
      </p:sp>
      <p:sp>
        <p:nvSpPr>
          <p:cNvPr id="256" name="Shape 254"/>
          <p:cNvSpPr/>
          <p:nvPr/>
        </p:nvSpPr>
        <p:spPr>
          <a:xfrm>
            <a:off x="7991856" y="3223260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010144" y="3264408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8138160" y="32369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Margin Compliance Rate</a:t>
            </a:r>
            <a:endParaRPr lang="en-US" sz="680" dirty="0"/>
          </a:p>
        </p:txBody>
      </p:sp>
      <p:sp>
        <p:nvSpPr>
          <p:cNvPr id="259" name="Shape 257"/>
          <p:cNvSpPr/>
          <p:nvPr/>
        </p:nvSpPr>
        <p:spPr>
          <a:xfrm>
            <a:off x="8010144" y="3447288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8028432" y="34472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prices above min margin ÷ Total</a:t>
            </a:r>
            <a:endParaRPr lang="en-US" sz="580" dirty="0"/>
          </a:p>
        </p:txBody>
      </p:sp>
      <p:sp>
        <p:nvSpPr>
          <p:cNvPr id="261" name="Text 259"/>
          <p:cNvSpPr/>
          <p:nvPr/>
        </p:nvSpPr>
        <p:spPr>
          <a:xfrm>
            <a:off x="8010144" y="36301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UC013 — monitor customer margins (FC022)</a:t>
            </a:r>
            <a:endParaRPr lang="en-US" sz="550" dirty="0"/>
          </a:p>
        </p:txBody>
      </p:sp>
      <p:sp>
        <p:nvSpPr>
          <p:cNvPr id="262" name="Shape 260"/>
          <p:cNvSpPr/>
          <p:nvPr/>
        </p:nvSpPr>
        <p:spPr>
          <a:xfrm>
            <a:off x="7991856" y="4101084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010144" y="4142232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8138160" y="4114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Activation Lead Time</a:t>
            </a:r>
            <a:endParaRPr lang="en-US" sz="680" dirty="0"/>
          </a:p>
        </p:txBody>
      </p:sp>
      <p:sp>
        <p:nvSpPr>
          <p:cNvPr id="265" name="Shape 263"/>
          <p:cNvSpPr/>
          <p:nvPr/>
        </p:nvSpPr>
        <p:spPr>
          <a:xfrm>
            <a:off x="8010144" y="4325112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8028432" y="43251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Hours: campaign created → live in market</a:t>
            </a:r>
            <a:endParaRPr lang="en-US" sz="580" dirty="0"/>
          </a:p>
        </p:txBody>
      </p:sp>
      <p:sp>
        <p:nvSpPr>
          <p:cNvPr id="267" name="Text 265"/>
          <p:cNvSpPr/>
          <p:nvPr/>
        </p:nvSpPr>
        <p:spPr>
          <a:xfrm>
            <a:off x="8010144" y="450799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UC010 — time from setup to customer-facing price</a:t>
            </a:r>
            <a:endParaRPr lang="en-US" sz="550" dirty="0"/>
          </a:p>
        </p:txBody>
      </p:sp>
      <p:sp>
        <p:nvSpPr>
          <p:cNvPr id="268" name="Shape 266"/>
          <p:cNvSpPr/>
          <p:nvPr/>
        </p:nvSpPr>
        <p:spPr>
          <a:xfrm>
            <a:off x="7991856" y="4978908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010144" y="502005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8138160" y="499262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Scope Coverage %</a:t>
            </a:r>
            <a:endParaRPr lang="en-US" sz="680" dirty="0"/>
          </a:p>
        </p:txBody>
      </p:sp>
      <p:sp>
        <p:nvSpPr>
          <p:cNvPr id="271" name="Shape 269"/>
          <p:cNvSpPr/>
          <p:nvPr/>
        </p:nvSpPr>
        <p:spPr>
          <a:xfrm>
            <a:off x="8010144" y="5202936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8028432" y="520293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customers with active price list ÷ Total</a:t>
            </a:r>
            <a:endParaRPr lang="en-US" sz="580" dirty="0"/>
          </a:p>
        </p:txBody>
      </p:sp>
      <p:sp>
        <p:nvSpPr>
          <p:cNvPr id="273" name="Text 271"/>
          <p:cNvSpPr/>
          <p:nvPr/>
        </p:nvSpPr>
        <p:spPr>
          <a:xfrm>
            <a:off x="8010144" y="538581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UC013 — control scope &amp; eligibility completeness</a:t>
            </a:r>
            <a:endParaRPr lang="en-US" sz="550" dirty="0"/>
          </a:p>
        </p:txBody>
      </p:sp>
      <p:sp>
        <p:nvSpPr>
          <p:cNvPr id="274" name="Shape 272"/>
          <p:cNvSpPr/>
          <p:nvPr/>
        </p:nvSpPr>
        <p:spPr>
          <a:xfrm>
            <a:off x="9253728" y="694944"/>
            <a:ext cx="1261872" cy="658368"/>
          </a:xfrm>
          <a:prstGeom prst="rect">
            <a:avLst/>
          </a:prstGeom>
          <a:solidFill>
            <a:srgbClr val="7CBDE2"/>
          </a:solidFill>
          <a:ln w="12700">
            <a:solidFill>
              <a:srgbClr val="7CBD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5" name="Text 273"/>
          <p:cNvSpPr/>
          <p:nvPr/>
        </p:nvSpPr>
        <p:spPr>
          <a:xfrm>
            <a:off x="9290304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6" name="Text 274"/>
          <p:cNvSpPr/>
          <p:nvPr/>
        </p:nvSpPr>
        <p:spPr>
          <a:xfrm>
            <a:off x="9509760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Publication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Distribution</a:t>
            </a:r>
            <a:endParaRPr lang="en-US" sz="800" dirty="0"/>
          </a:p>
        </p:txBody>
      </p:sp>
      <p:sp>
        <p:nvSpPr>
          <p:cNvPr id="277" name="Text 275"/>
          <p:cNvSpPr/>
          <p:nvPr/>
        </p:nvSpPr>
        <p:spPr>
          <a:xfrm>
            <a:off x="9509760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+ Market</a:t>
            </a:r>
            <a:endParaRPr lang="en-US" sz="650" dirty="0"/>
          </a:p>
        </p:txBody>
      </p:sp>
      <p:sp>
        <p:nvSpPr>
          <p:cNvPr id="278" name="Shape 276"/>
          <p:cNvSpPr/>
          <p:nvPr/>
        </p:nvSpPr>
        <p:spPr>
          <a:xfrm>
            <a:off x="10520172" y="987552"/>
            <a:ext cx="2743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253728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0" name="Shape 278"/>
          <p:cNvSpPr/>
          <p:nvPr/>
        </p:nvSpPr>
        <p:spPr>
          <a:xfrm>
            <a:off x="9253728" y="1408176"/>
            <a:ext cx="1261872" cy="45720"/>
          </a:xfrm>
          <a:prstGeom prst="rect">
            <a:avLst/>
          </a:prstGeom>
          <a:solidFill>
            <a:srgbClr val="7CBDE2"/>
          </a:solidFill>
          <a:ln w="12700">
            <a:solidFill>
              <a:srgbClr val="7CBDE2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308592" y="150876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9436608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Transfer Success Rate</a:t>
            </a:r>
            <a:endParaRPr lang="en-US" sz="680" dirty="0"/>
          </a:p>
        </p:txBody>
      </p:sp>
      <p:sp>
        <p:nvSpPr>
          <p:cNvPr id="283" name="Shape 281"/>
          <p:cNvSpPr/>
          <p:nvPr/>
        </p:nvSpPr>
        <p:spPr>
          <a:xfrm>
            <a:off x="9308592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9326880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transfers ÷ Total price records</a:t>
            </a:r>
            <a:endParaRPr lang="en-US" sz="580" dirty="0"/>
          </a:p>
        </p:txBody>
      </p:sp>
      <p:sp>
        <p:nvSpPr>
          <p:cNvPr id="285" name="Text 283"/>
          <p:cNvSpPr/>
          <p:nvPr/>
        </p:nvSpPr>
        <p:spPr>
          <a:xfrm>
            <a:off x="9308592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UCNew01 — ATLAS is logistics/invoice system (IT001)</a:t>
            </a:r>
            <a:endParaRPr lang="en-US" sz="550" dirty="0"/>
          </a:p>
        </p:txBody>
      </p:sp>
      <p:sp>
        <p:nvSpPr>
          <p:cNvPr id="286" name="Shape 284"/>
          <p:cNvSpPr/>
          <p:nvPr/>
        </p:nvSpPr>
        <p:spPr>
          <a:xfrm>
            <a:off x="9290304" y="2345436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9308592" y="2386584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9436608" y="235915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Activation Lead Time</a:t>
            </a:r>
            <a:endParaRPr lang="en-US" sz="680" dirty="0"/>
          </a:p>
        </p:txBody>
      </p:sp>
      <p:sp>
        <p:nvSpPr>
          <p:cNvPr id="289" name="Shape 287"/>
          <p:cNvSpPr/>
          <p:nvPr/>
        </p:nvSpPr>
        <p:spPr>
          <a:xfrm>
            <a:off x="9308592" y="2569464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9326880" y="256946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approval → live in market system</a:t>
            </a:r>
            <a:endParaRPr lang="en-US" sz="580" dirty="0"/>
          </a:p>
        </p:txBody>
      </p:sp>
      <p:sp>
        <p:nvSpPr>
          <p:cNvPr id="291" name="Text 289"/>
          <p:cNvSpPr/>
          <p:nvPr/>
        </p:nvSpPr>
        <p:spPr>
          <a:xfrm>
            <a:off x="9308592" y="275234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same day — measured per market per change</a:t>
            </a:r>
            <a:endParaRPr lang="en-US" sz="550" dirty="0"/>
          </a:p>
        </p:txBody>
      </p:sp>
      <p:sp>
        <p:nvSpPr>
          <p:cNvPr id="292" name="Shape 290"/>
          <p:cNvSpPr/>
          <p:nvPr/>
        </p:nvSpPr>
        <p:spPr>
          <a:xfrm>
            <a:off x="9290304" y="3223260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308592" y="3264408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436608" y="32369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Execution Accuracy</a:t>
            </a:r>
            <a:endParaRPr lang="en-US" sz="680" dirty="0"/>
          </a:p>
        </p:txBody>
      </p:sp>
      <p:sp>
        <p:nvSpPr>
          <p:cNvPr id="295" name="Shape 293"/>
          <p:cNvSpPr/>
          <p:nvPr/>
        </p:nvSpPr>
        <p:spPr>
          <a:xfrm>
            <a:off x="9308592" y="3447288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9326880" y="34472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at correct price ÷ Total invoices</a:t>
            </a:r>
            <a:endParaRPr lang="en-US" sz="580" dirty="0"/>
          </a:p>
        </p:txBody>
      </p:sp>
      <p:sp>
        <p:nvSpPr>
          <p:cNvPr id="297" name="Text 295"/>
          <p:cNvSpPr/>
          <p:nvPr/>
        </p:nvSpPr>
        <p:spPr>
          <a:xfrm>
            <a:off x="9308592" y="36301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UCNew01 — enable offer &amp; invoice execution</a:t>
            </a:r>
            <a:endParaRPr lang="en-US" sz="550" dirty="0"/>
          </a:p>
        </p:txBody>
      </p:sp>
      <p:sp>
        <p:nvSpPr>
          <p:cNvPr id="298" name="Shape 296"/>
          <p:cNvSpPr/>
          <p:nvPr/>
        </p:nvSpPr>
        <p:spPr>
          <a:xfrm>
            <a:off x="9290304" y="4101084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308592" y="414223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9436608" y="41148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Distribution Completeness</a:t>
            </a:r>
            <a:endParaRPr lang="en-US" sz="680" dirty="0"/>
          </a:p>
        </p:txBody>
      </p:sp>
      <p:sp>
        <p:nvSpPr>
          <p:cNvPr id="301" name="Shape 299"/>
          <p:cNvSpPr/>
          <p:nvPr/>
        </p:nvSpPr>
        <p:spPr>
          <a:xfrm>
            <a:off x="9308592" y="4325112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9326880" y="43251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with current price list ÷ Total markets</a:t>
            </a:r>
            <a:endParaRPr lang="en-US" sz="580" dirty="0"/>
          </a:p>
        </p:txBody>
      </p:sp>
      <p:sp>
        <p:nvSpPr>
          <p:cNvPr id="303" name="Text 301"/>
          <p:cNvSpPr/>
          <p:nvPr/>
        </p:nvSpPr>
        <p:spPr>
          <a:xfrm>
            <a:off x="9308592" y="450799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UCNew02 — all ~100 markets must receive updates</a:t>
            </a:r>
            <a:endParaRPr lang="en-US" sz="550" dirty="0"/>
          </a:p>
        </p:txBody>
      </p:sp>
      <p:sp>
        <p:nvSpPr>
          <p:cNvPr id="304" name="Shape 302"/>
          <p:cNvSpPr/>
          <p:nvPr/>
        </p:nvSpPr>
        <p:spPr>
          <a:xfrm>
            <a:off x="9290304" y="4978908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308592" y="5020056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9436608" y="499262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Date Synchronization Rate</a:t>
            </a:r>
            <a:endParaRPr lang="en-US" sz="680" dirty="0"/>
          </a:p>
        </p:txBody>
      </p:sp>
      <p:sp>
        <p:nvSpPr>
          <p:cNvPr id="307" name="Shape 305"/>
          <p:cNvSpPr/>
          <p:nvPr/>
        </p:nvSpPr>
        <p:spPr>
          <a:xfrm>
            <a:off x="9308592" y="5202936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9326880" y="520293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with aligned validity dates ÷ Total</a:t>
            </a:r>
            <a:endParaRPr lang="en-US" sz="580" dirty="0"/>
          </a:p>
        </p:txBody>
      </p:sp>
      <p:sp>
        <p:nvSpPr>
          <p:cNvPr id="309" name="Text 307"/>
          <p:cNvSpPr/>
          <p:nvPr/>
        </p:nvSpPr>
        <p:spPr>
          <a:xfrm>
            <a:off x="9308592" y="538581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UCNew02 — Faktura system sync confirmation</a:t>
            </a:r>
            <a:endParaRPr lang="en-US" sz="550" dirty="0"/>
          </a:p>
        </p:txBody>
      </p:sp>
      <p:sp>
        <p:nvSpPr>
          <p:cNvPr id="310" name="Shape 308"/>
          <p:cNvSpPr/>
          <p:nvPr/>
        </p:nvSpPr>
        <p:spPr>
          <a:xfrm>
            <a:off x="10552176" y="694944"/>
            <a:ext cx="1261872" cy="658368"/>
          </a:xfrm>
          <a:prstGeom prst="rect">
            <a:avLst/>
          </a:prstGeom>
          <a:solidFill>
            <a:srgbClr val="A0CFE9"/>
          </a:solidFill>
          <a:ln w="12700">
            <a:solidFill>
              <a:srgbClr val="A0CFE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1" name="Text 309"/>
          <p:cNvSpPr/>
          <p:nvPr/>
        </p:nvSpPr>
        <p:spPr>
          <a:xfrm>
            <a:off x="10588752" y="694944"/>
            <a:ext cx="219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2" name="Text 310"/>
          <p:cNvSpPr/>
          <p:nvPr/>
        </p:nvSpPr>
        <p:spPr>
          <a:xfrm>
            <a:off x="10808208" y="694944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History &amp;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13" name="Text 311"/>
          <p:cNvSpPr/>
          <p:nvPr/>
        </p:nvSpPr>
        <p:spPr>
          <a:xfrm>
            <a:off x="10808208" y="1170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+ Market</a:t>
            </a:r>
            <a:endParaRPr lang="en-US" sz="650" dirty="0"/>
          </a:p>
        </p:txBody>
      </p:sp>
      <p:sp>
        <p:nvSpPr>
          <p:cNvPr id="314" name="Shape 312"/>
          <p:cNvSpPr/>
          <p:nvPr/>
        </p:nvSpPr>
        <p:spPr>
          <a:xfrm>
            <a:off x="10552176" y="1408176"/>
            <a:ext cx="126187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5" name="Shape 313"/>
          <p:cNvSpPr/>
          <p:nvPr/>
        </p:nvSpPr>
        <p:spPr>
          <a:xfrm>
            <a:off x="10552176" y="1408176"/>
            <a:ext cx="1261872" cy="45720"/>
          </a:xfrm>
          <a:prstGeom prst="rect">
            <a:avLst/>
          </a:prstGeom>
          <a:solidFill>
            <a:srgbClr val="A0CFE9"/>
          </a:solidFill>
          <a:ln w="12700">
            <a:solidFill>
              <a:srgbClr val="A0CFE9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607040" y="150876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10735056" y="14813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Retention Compliance</a:t>
            </a:r>
            <a:endParaRPr lang="en-US" sz="680" dirty="0"/>
          </a:p>
        </p:txBody>
      </p:sp>
      <p:sp>
        <p:nvSpPr>
          <p:cNvPr id="318" name="Shape 316"/>
          <p:cNvSpPr/>
          <p:nvPr/>
        </p:nvSpPr>
        <p:spPr>
          <a:xfrm>
            <a:off x="10607040" y="16916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10625328" y="16916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retrievable price history vs. 15yr target</a:t>
            </a:r>
            <a:endParaRPr lang="en-US" sz="580" dirty="0"/>
          </a:p>
        </p:txBody>
      </p:sp>
      <p:sp>
        <p:nvSpPr>
          <p:cNvPr id="320" name="Text 318"/>
          <p:cNvSpPr/>
          <p:nvPr/>
        </p:nvSpPr>
        <p:spPr>
          <a:xfrm>
            <a:off x="10607040" y="18745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UCNew03 — BMW target: 15 years price history</a:t>
            </a:r>
            <a:endParaRPr lang="en-US" sz="550" dirty="0"/>
          </a:p>
        </p:txBody>
      </p:sp>
      <p:sp>
        <p:nvSpPr>
          <p:cNvPr id="321" name="Shape 319"/>
          <p:cNvSpPr/>
          <p:nvPr/>
        </p:nvSpPr>
        <p:spPr>
          <a:xfrm>
            <a:off x="10588752" y="229819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607040" y="233934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10735056" y="231190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Completeness</a:t>
            </a:r>
            <a:endParaRPr lang="en-US" sz="680" dirty="0"/>
          </a:p>
        </p:txBody>
      </p:sp>
      <p:sp>
        <p:nvSpPr>
          <p:cNvPr id="324" name="Shape 322"/>
          <p:cNvSpPr/>
          <p:nvPr/>
        </p:nvSpPr>
        <p:spPr>
          <a:xfrm>
            <a:off x="10607040" y="252222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10625328" y="25222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with full log (user+timestamp+reason) ÷ Total</a:t>
            </a:r>
            <a:endParaRPr lang="en-US" sz="580" dirty="0"/>
          </a:p>
        </p:txBody>
      </p:sp>
      <p:sp>
        <p:nvSpPr>
          <p:cNvPr id="326" name="Text 324"/>
          <p:cNvSpPr/>
          <p:nvPr/>
        </p:nvSpPr>
        <p:spPr>
          <a:xfrm>
            <a:off x="10607040" y="270510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UCNew03 — log user, timestamp, approvals (100%)</a:t>
            </a:r>
            <a:endParaRPr lang="en-US" sz="550" dirty="0"/>
          </a:p>
        </p:txBody>
      </p:sp>
      <p:sp>
        <p:nvSpPr>
          <p:cNvPr id="327" name="Shape 325"/>
          <p:cNvSpPr/>
          <p:nvPr/>
        </p:nvSpPr>
        <p:spPr>
          <a:xfrm>
            <a:off x="10588752" y="312877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0607040" y="3169920"/>
            <a:ext cx="100584" cy="1005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10735056" y="314248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 Clearance Rate</a:t>
            </a:r>
            <a:endParaRPr lang="en-US" sz="680" dirty="0"/>
          </a:p>
        </p:txBody>
      </p:sp>
      <p:sp>
        <p:nvSpPr>
          <p:cNvPr id="330" name="Shape 328"/>
          <p:cNvSpPr/>
          <p:nvPr/>
        </p:nvSpPr>
        <p:spPr>
          <a:xfrm>
            <a:off x="10607040" y="335280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10625328" y="335280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items ÷ Total worklist items per week</a:t>
            </a:r>
            <a:endParaRPr lang="en-US" sz="580" dirty="0"/>
          </a:p>
        </p:txBody>
      </p:sp>
      <p:sp>
        <p:nvSpPr>
          <p:cNvPr id="332" name="Text 330"/>
          <p:cNvSpPr/>
          <p:nvPr/>
        </p:nvSpPr>
        <p:spPr>
          <a:xfrm>
            <a:off x="10607040" y="353568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 — uncleared = wrong prices live</a:t>
            </a:r>
            <a:endParaRPr lang="en-US" sz="550" dirty="0"/>
          </a:p>
        </p:txBody>
      </p:sp>
      <p:sp>
        <p:nvSpPr>
          <p:cNvPr id="333" name="Shape 331"/>
          <p:cNvSpPr/>
          <p:nvPr/>
        </p:nvSpPr>
        <p:spPr>
          <a:xfrm>
            <a:off x="10588752" y="395935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0607040" y="400050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10735056" y="397306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4-Eyes Approval Compliance Rate</a:t>
            </a:r>
            <a:endParaRPr lang="en-US" sz="680" dirty="0"/>
          </a:p>
        </p:txBody>
      </p:sp>
      <p:sp>
        <p:nvSpPr>
          <p:cNvPr id="336" name="Shape 334"/>
          <p:cNvSpPr/>
          <p:nvPr/>
        </p:nvSpPr>
        <p:spPr>
          <a:xfrm>
            <a:off x="10607040" y="418338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10625328" y="41833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via workflow ÷ All threshold changes</a:t>
            </a:r>
            <a:endParaRPr lang="en-US" sz="580" dirty="0"/>
          </a:p>
        </p:txBody>
      </p:sp>
      <p:sp>
        <p:nvSpPr>
          <p:cNvPr id="338" name="Text 336"/>
          <p:cNvSpPr/>
          <p:nvPr/>
        </p:nvSpPr>
        <p:spPr>
          <a:xfrm>
            <a:off x="10607040" y="436626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KPI — zero exceptions permitted (FC003)</a:t>
            </a:r>
            <a:endParaRPr lang="en-US" sz="550" dirty="0"/>
          </a:p>
        </p:txBody>
      </p:sp>
      <p:sp>
        <p:nvSpPr>
          <p:cNvPr id="339" name="Shape 337"/>
          <p:cNvSpPr/>
          <p:nvPr/>
        </p:nvSpPr>
        <p:spPr>
          <a:xfrm>
            <a:off x="10588752" y="478993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0607040" y="483108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10735056" y="4803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EBIT Margin</a:t>
            </a:r>
            <a:endParaRPr lang="en-US" sz="680" dirty="0"/>
          </a:p>
        </p:txBody>
      </p:sp>
      <p:sp>
        <p:nvSpPr>
          <p:cNvPr id="342" name="Shape 340"/>
          <p:cNvSpPr/>
          <p:nvPr/>
        </p:nvSpPr>
        <p:spPr>
          <a:xfrm>
            <a:off x="10607040" y="501396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10625328" y="50139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EBIT ÷ Aftersales Revenue × 100</a:t>
            </a:r>
            <a:endParaRPr lang="en-US" sz="580" dirty="0"/>
          </a:p>
        </p:txBody>
      </p:sp>
      <p:sp>
        <p:nvSpPr>
          <p:cNvPr id="344" name="Text 342"/>
          <p:cNvSpPr/>
          <p:nvPr/>
        </p:nvSpPr>
        <p:spPr>
          <a:xfrm>
            <a:off x="10607040" y="519684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KPI — McKinsey benchmark: ~25%</a:t>
            </a:r>
            <a:endParaRPr lang="en-US" sz="550" dirty="0"/>
          </a:p>
        </p:txBody>
      </p:sp>
      <p:sp>
        <p:nvSpPr>
          <p:cNvPr id="345" name="Shape 343"/>
          <p:cNvSpPr/>
          <p:nvPr/>
        </p:nvSpPr>
        <p:spPr>
          <a:xfrm>
            <a:off x="10588752" y="5620512"/>
            <a:ext cx="1188720" cy="9144"/>
          </a:xfrm>
          <a:prstGeom prst="rect">
            <a:avLst/>
          </a:prstGeom>
          <a:solidFill>
            <a:srgbClr val="DDEAF8"/>
          </a:solidFill>
          <a:ln w="12700">
            <a:solidFill>
              <a:srgbClr val="DDEAF8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607040" y="5661660"/>
            <a:ext cx="100584" cy="1005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10735056" y="563422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Market Share Capture Rate</a:t>
            </a:r>
            <a:endParaRPr lang="en-US" sz="680" dirty="0"/>
          </a:p>
        </p:txBody>
      </p:sp>
      <p:sp>
        <p:nvSpPr>
          <p:cNvPr id="348" name="Shape 346"/>
          <p:cNvSpPr/>
          <p:nvPr/>
        </p:nvSpPr>
        <p:spPr>
          <a:xfrm>
            <a:off x="10607040" y="5844540"/>
            <a:ext cx="1152144" cy="164592"/>
          </a:xfrm>
          <a:prstGeom prst="rect">
            <a:avLst/>
          </a:prstGeom>
          <a:solidFill>
            <a:srgbClr val="EEF4FB"/>
          </a:solidFill>
          <a:ln w="3810">
            <a:solidFill>
              <a:srgbClr val="D0E4F5"/>
            </a:solidFill>
            <a:prstDash val="solid"/>
          </a:ln>
        </p:spPr>
      </p:sp>
      <p:sp>
        <p:nvSpPr>
          <p:cNvPr id="349" name="Text 347"/>
          <p:cNvSpPr/>
          <p:nvPr/>
        </p:nvSpPr>
        <p:spPr>
          <a:xfrm>
            <a:off x="10625328" y="58445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genuine ÷ Total repair spend on BMW fleet</a:t>
            </a:r>
            <a:endParaRPr lang="en-US" sz="580" dirty="0"/>
          </a:p>
        </p:txBody>
      </p:sp>
      <p:sp>
        <p:nvSpPr>
          <p:cNvPr id="350" name="Text 348"/>
          <p:cNvSpPr/>
          <p:nvPr/>
        </p:nvSpPr>
        <p:spPr>
          <a:xfrm>
            <a:off x="10607040" y="60274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competitive effectiveness indicator</a:t>
            </a:r>
            <a:endParaRPr lang="en-US" sz="550" dirty="0"/>
          </a:p>
        </p:txBody>
      </p:sp>
      <p:sp>
        <p:nvSpPr>
          <p:cNvPr id="351" name="Shape 349"/>
          <p:cNvSpPr/>
          <p:nvPr/>
        </p:nvSpPr>
        <p:spPr>
          <a:xfrm>
            <a:off x="164592" y="1938528"/>
            <a:ext cx="5157216" cy="137160"/>
          </a:xfrm>
          <a:prstGeom prst="rect">
            <a:avLst/>
          </a:prstGeom>
          <a:solidFill>
            <a:srgbClr val="D9E6F5"/>
          </a:solidFill>
          <a:ln w="6350">
            <a:solidFill>
              <a:srgbClr val="B8CEED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201168" y="1938528"/>
            <a:ext cx="5084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AG (Central)  ▶</a:t>
            </a:r>
            <a:endParaRPr lang="en-US" sz="700" dirty="0"/>
          </a:p>
        </p:txBody>
      </p:sp>
      <p:sp>
        <p:nvSpPr>
          <p:cNvPr id="353" name="Shape 351"/>
          <p:cNvSpPr/>
          <p:nvPr/>
        </p:nvSpPr>
        <p:spPr>
          <a:xfrm>
            <a:off x="5358384" y="1938528"/>
            <a:ext cx="3858768" cy="137160"/>
          </a:xfrm>
          <a:prstGeom prst="rect">
            <a:avLst/>
          </a:prstGeom>
          <a:solidFill>
            <a:srgbClr val="D9E6F5"/>
          </a:solidFill>
          <a:ln w="6350">
            <a:solidFill>
              <a:srgbClr val="B8CEED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5394960" y="1938528"/>
            <a:ext cx="3785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Market  ▶</a:t>
            </a:r>
            <a:endParaRPr lang="en-US" sz="700" dirty="0"/>
          </a:p>
        </p:txBody>
      </p:sp>
      <p:sp>
        <p:nvSpPr>
          <p:cNvPr id="355" name="Shape 353"/>
          <p:cNvSpPr/>
          <p:nvPr/>
        </p:nvSpPr>
        <p:spPr>
          <a:xfrm>
            <a:off x="9253728" y="1938528"/>
            <a:ext cx="2560320" cy="137160"/>
          </a:xfrm>
          <a:prstGeom prst="rect">
            <a:avLst/>
          </a:prstGeom>
          <a:solidFill>
            <a:srgbClr val="D9E6F5"/>
          </a:solidFill>
          <a:ln w="6350">
            <a:solidFill>
              <a:srgbClr val="B8CEED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9290304" y="1938528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AG + Market  ▶</a:t>
            </a:r>
            <a:endParaRPr lang="en-US" sz="700" dirty="0"/>
          </a:p>
        </p:txBody>
      </p:sp>
      <p:sp>
        <p:nvSpPr>
          <p:cNvPr id="357" name="Shape 35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BMW RFI CA-250/CA-251 | Vistex SME Input | McKinsey Aftersales Benchmarks  —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1–3: Price Structure, Initial Creation &amp; Central Adjustments (AG)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1152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UC001 · UC002 · UC003 · UC004 · UC005 · UC006 · UC009 · UC011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384048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Price Structure 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AG  |  UC001 – Basis-Preisstrukturprozess  ·  UC011 (AG) – Price Rounding  ·  UC009 (AG) – Pfandpreis  ·  UC006 (input) – Reporting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316736"/>
            <a:ext cx="384048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6032" y="1627632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59636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32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Code Coverage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in FC ÷ Total active parts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6032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100% — unassigned = unpriced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19456" y="2572207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604211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36215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604211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56032" y="2796235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Willingness-to-Pay Index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033979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33979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÷ Vehicle residual value segment avg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6032" y="3253435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 BMW segmentation logic per UC001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19456" y="354878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580790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12794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58079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56032" y="377281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Accuracy Score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401055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01055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segmented (audit) ÷ Sample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6032" y="423001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driver for all downstream prices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19456" y="452536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4557370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58937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55737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56032" y="474939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Threshold Definition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498713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8713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CM% set per family code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56032" y="520659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Four-eyes approval trigger level (FC003)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19456" y="5501945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" y="5533949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565953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5533949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256032" y="5725973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Structure Approval Rate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5963717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5963717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structures ÷ Submitted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56032" y="6183173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KPI for UC001 sign-off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087368" y="749808"/>
            <a:ext cx="3840480" cy="548640"/>
          </a:xfrm>
          <a:prstGeom prst="rect">
            <a:avLst/>
          </a:prstGeom>
          <a:solidFill>
            <a:srgbClr val="1E5C9B"/>
          </a:solidFill>
          <a:ln w="12700">
            <a:solidFill>
              <a:srgbClr val="1E5C9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178808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Initial Price Creation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178808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AG  |  UC002 – Neuteil  ·  UC003 – Einzelteilpreis  ·  UC004 – Preis-Upload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087368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087368" y="1316736"/>
            <a:ext cx="3840480" cy="45720"/>
          </a:xfrm>
          <a:prstGeom prst="rect">
            <a:avLst/>
          </a:prstGeom>
          <a:solidFill>
            <a:srgbClr val="1E5C9B"/>
          </a:solidFill>
          <a:ln w="12700">
            <a:solidFill>
              <a:srgbClr val="1E5C9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23944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42232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160520" y="1627632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78808" y="165963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0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160520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 Pricing Cycle Time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60520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78808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seconds: part release → valid price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160520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explicit target: &lt;30 seconds (FC016)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123944" y="2409444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60520" y="2441448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78808" y="2473452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97680" y="2441448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160520" y="263347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Ex-Factory Cost / RET Ratio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160520" y="2871216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78808" y="28712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÷ RET × 100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160520" y="309067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floor — must always be &lt;100%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123944" y="3223260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60520" y="3255264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78808" y="328726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97680" y="3255264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4160520" y="344728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% (GP%)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60520" y="3685032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78808" y="368503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Ex-Factory) ÷ RET × 100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160520" y="390448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&gt;30% for automotive OEM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123944" y="403707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0520" y="4069080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78808" y="4101084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97680" y="406908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4160520" y="426110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% (CM%)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60520" y="449884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78808" y="44988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 − Variable Cost) ÷ RET × 100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160520" y="471830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pricing KPI; triggers 4-eyes above threshold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123944" y="4850892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4882896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78808" y="491490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97680" y="4882896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4160520" y="507492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Proposal Acceptance Rate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160520" y="5312664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78808" y="531266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proposals accepted ÷ Generated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160520" y="553212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segmentation &amp; structure quality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123944" y="5664708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60520" y="5696712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178808" y="572871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97680" y="569671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4160520" y="588873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Error Rate (Preis-Upload)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160520" y="612648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78808" y="61264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records ÷ Total uploaded (UC004)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4160520" y="634593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&lt;1% — data quality indicator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7991856" y="749808"/>
            <a:ext cx="3840480" cy="548640"/>
          </a:xfrm>
          <a:prstGeom prst="rect">
            <a:avLst/>
          </a:prstGeom>
          <a:solidFill>
            <a:srgbClr val="2167AE"/>
          </a:solidFill>
          <a:ln w="12700">
            <a:solidFill>
              <a:srgbClr val="2167A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8083296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Central Price Adjustments</a:t>
            </a:r>
            <a:endParaRPr lang="en-US" sz="1300" dirty="0"/>
          </a:p>
        </p:txBody>
      </p:sp>
      <p:sp>
        <p:nvSpPr>
          <p:cNvPr id="107" name="Text 105"/>
          <p:cNvSpPr/>
          <p:nvPr/>
        </p:nvSpPr>
        <p:spPr>
          <a:xfrm>
            <a:off x="8083296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AG  |  UC005 – Lump-Sum-Measure  ·  UC006 – Reporting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991856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991856" y="1316736"/>
            <a:ext cx="3840480" cy="45720"/>
          </a:xfrm>
          <a:prstGeom prst="rect">
            <a:avLst/>
          </a:prstGeom>
          <a:solidFill>
            <a:srgbClr val="2167AE"/>
          </a:solidFill>
          <a:ln w="12700">
            <a:solidFill>
              <a:srgbClr val="2167A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28432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46720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8065008" y="1627632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083296" y="165963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02168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8065008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Sum Pass-Through Rate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065008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083296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applied ÷ Markets notified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8065008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inflation compensation KPI (UC005)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8028432" y="2572207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065008" y="2604211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083296" y="2636215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02168" y="2604211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8065008" y="2796235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Threshold Violation Rate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8065008" y="3033979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083296" y="3033979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below min CM ÷ Total parts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8065008" y="3253435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Zero-tolerance target — triggers mandatory review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8028432" y="354878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65008" y="3580790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83296" y="3612794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202168" y="358079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8065008" y="377281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Coverage %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065008" y="401055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083296" y="401055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sum % vs. actual YoY cost inflation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8065008" y="423001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real price erosion prevention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8028432" y="452536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065008" y="4557370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083296" y="458937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202168" y="455737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8065008" y="474939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Approval Cycle Time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8065008" y="498713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083296" y="498713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price change submitted → approved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065008" y="520659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efficiency KPI (FC003)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028432" y="5501945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065008" y="5533949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083296" y="5565953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202168" y="5533949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8065008" y="5725973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Completeness Rate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8065008" y="5963717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083296" y="5963717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reports generated ÷ Scheduled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065008" y="6183173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UC006 — data availability for steering decisions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 Advisory  ·  BMW Aftersales Pricing KPI Framework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4–6: Market Handover, Price Derivation &amp; Market Price Changes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1152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UC001(handover) · UC007 · UC008 · UC009(Market) · UC011(Market) · UC012 · UCNew02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384048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AG → Market Handover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AG  |  UC001 (handover)  ·  UCNew02 – Market Enablement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316736"/>
            <a:ext cx="38404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6032" y="1627632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5963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32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Notification Lead 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Hours: AG price set → PRIMUS worklist entry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6032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Confluent/Kafka integration SLA (IT002)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19456" y="2816352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848356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80360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848356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56032" y="304038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 Population 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278124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27812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notified ÷ Markets in scope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6032" y="349758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target — no market left without trigger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19456" y="403707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4069080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01084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406908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56032" y="426110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Structure Transfer Accuracy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449884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4988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transferred rules ÷ Total rules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6032" y="471830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code + segment rules must transfer intact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19456" y="5257800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5289804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532180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5289804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56032" y="548182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Enablement Completeness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5719572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571957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with full governance params ÷ Total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56032" y="593902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UCNew02 — all retail factors, BD, rounding rules set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087368" y="749808"/>
            <a:ext cx="3840480" cy="548640"/>
          </a:xfrm>
          <a:prstGeom prst="rect">
            <a:avLst/>
          </a:prstGeom>
          <a:solidFill>
            <a:srgbClr val="3A8FD1"/>
          </a:solidFill>
          <a:ln w="12700">
            <a:solidFill>
              <a:srgbClr val="3A8FD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78808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Market Price Derivation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178808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Market  |  UC007 – Marktpreiskalkulation  ·  UC012 – Exchange Rates  ·  UC011 (Market)  ·  UC009 (Market)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087368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087368" y="1316736"/>
            <a:ext cx="3840480" cy="45720"/>
          </a:xfrm>
          <a:prstGeom prst="rect">
            <a:avLst/>
          </a:prstGeom>
          <a:solidFill>
            <a:srgbClr val="3A8FD1"/>
          </a:solidFill>
          <a:ln w="12700">
            <a:solidFill>
              <a:srgbClr val="3A8FD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23944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42232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4160520" y="1627632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78808" y="165963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0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160520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Retail Price (MRP)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60520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78808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RET × Retail Factor (by Family Code)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160520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 output KPI (UC007)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123944" y="2409444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60520" y="2441448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78808" y="2473452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0" y="2441448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160520" y="263347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Dealer Net (MDN)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60520" y="2871216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78808" y="28712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− Base Difference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160520" y="309067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dealer purchase price (UC007)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123944" y="3223260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60520" y="3255264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78808" y="328726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97680" y="3255264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160520" y="344728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Lag Impact (CM Δ)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160520" y="3685032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78808" y="368503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loss from outdated FX rates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160520" y="390448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UC012 — system rate vs. budget rate delta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123944" y="403707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60520" y="4069080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78808" y="4101084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97680" y="406908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4160520" y="426110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Compliance Rate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60520" y="449884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78808" y="44988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rounded prices ÷ Total market prices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160520" y="471830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UC011 — different rounding rules per market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123944" y="4850892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0520" y="4882896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78808" y="4914900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97680" y="4882896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4160520" y="507492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Margin Simulation Accuracy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60520" y="5312664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78808" y="531266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GP% vs. actual GP% after activation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160520" y="553212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UC007 — margin simulation before setting live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123944" y="5664708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5696712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78808" y="572871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97680" y="569671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4160520" y="588873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(Pfand) Coverage Rate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160520" y="612648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78808" y="61264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with deposit prices set ÷ Eligible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160520" y="634593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UC009 (Market) — must mirror central deposit (UC009 AG)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991856" y="749808"/>
            <a:ext cx="3840480" cy="548640"/>
          </a:xfrm>
          <a:prstGeom prst="rect">
            <a:avLst/>
          </a:prstGeom>
          <a:solidFill>
            <a:srgbClr val="4FA0D8"/>
          </a:solidFill>
          <a:ln w="12700">
            <a:solidFill>
              <a:srgbClr val="4FA0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8083296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Market Price Changes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8083296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Market  |  UC008 – Market Price Change  ·  UC006 (Market)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991856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7991856" y="1316736"/>
            <a:ext cx="3840480" cy="45720"/>
          </a:xfrm>
          <a:prstGeom prst="rect">
            <a:avLst/>
          </a:prstGeom>
          <a:solidFill>
            <a:srgbClr val="4FA0D8"/>
          </a:solidFill>
          <a:ln w="12700">
            <a:solidFill>
              <a:srgbClr val="4FA0D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28432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46720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8065008" y="1627632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83296" y="1659636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02168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8065008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 Gross Profit % (GP Floor)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8065008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83296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(MRP − MDN) ÷ MRP × 100 vs. min threshold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8065008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market alert trigger in PRIMUS (FC023)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8028432" y="2409444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65008" y="2441448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083296" y="2473452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02168" y="2441448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8065008" y="263347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Price Index (CPI)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065008" y="2871216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083296" y="28712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MRP ÷ Best IAM price × 100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8065008" y="309067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trigger — CPI &lt;110 = at risk (FC012)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8028432" y="3223260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065008" y="3255264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083296" y="328726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02168" y="3255264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8065008" y="344728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Price Rate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8065008" y="3685032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083296" y="368503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priced parts ÷ Total market parts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8065008" y="390448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rate = retail factor misfit for family code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8028432" y="403707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65008" y="4069080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83296" y="410108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202168" y="406908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8065008" y="426110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Approval Cycle Time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065008" y="449884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083296" y="44988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trigger flagged → approved price live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8065008" y="471830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governance KPI (FC022)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8028432" y="4850892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065008" y="4882896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083296" y="4914900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202168" y="4882896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8065008" y="507492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Impact Simulation Accuracy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8065008" y="5312664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083296" y="531266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volume Δ vs. actual after change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065008" y="553212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UC008 — simulate margin &amp; volume before approval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028432" y="5664708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065008" y="5696712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083296" y="572871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202168" y="569671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8065008" y="588873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Validity Scheduling Rate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8065008" y="612648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083296" y="61264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with future date set ÷ Total changes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065008" y="634593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UC008 — schedule future validity (no retroactive prices)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 Advisory  ·  BMW Aftersales Pricing KPI Framework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7–9: Campaigns, Publication &amp; Audit / Compliance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1152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UC010 · UC013 · UCNew01 · UCNew02(Distribution) · UCNew03 · UC006(cross)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3840480" cy="548640"/>
          </a:xfrm>
          <a:prstGeom prst="rect">
            <a:avLst/>
          </a:prstGeom>
          <a:solidFill>
            <a:srgbClr val="63AFDD"/>
          </a:solidFill>
          <a:ln w="12700">
            <a:solidFill>
              <a:srgbClr val="63AF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Campaigns &amp; Special Prices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Market  |  UC010 – Campaign Pricing  ·  UC013 – Special Customers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316736"/>
            <a:ext cx="3840480" cy="45720"/>
          </a:xfrm>
          <a:prstGeom prst="rect">
            <a:avLst/>
          </a:prstGeom>
          <a:solidFill>
            <a:srgbClr val="63AFDD"/>
          </a:solidFill>
          <a:ln w="12700">
            <a:solidFill>
              <a:srgbClr val="63AF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56032" y="1627632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5963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6032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Price Restoration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Auto-restored ÷ Expired campaign prices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6032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UC010 — auto-revert after expiry is critical (UC 3.10)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19456" y="2572207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604211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36215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604211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56032" y="2796235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Customer Discount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033979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33979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(List − Special Price) ÷ List × 100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6032" y="3253435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UC013 — by group: importer/authority/industry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19456" y="354878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580790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1279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58079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56032" y="377281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Margin Compliance Rate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401055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01055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prices above min margin ÷ Total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6032" y="423001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UC013 — monitor customer margins (FC022)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19456" y="452536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4557370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589374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55737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56032" y="474939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Activation Lead Time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498713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8713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Hours: campaign created → live in market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56032" y="520659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UC010 — time from setup to customer-facing price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19456" y="5501945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" y="5533949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565953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5533949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256032" y="5725973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Scope Coverage 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5963717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5963717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customers with active price list ÷ Total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56032" y="6183173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UC013 — control scope &amp; eligibility completeness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087368" y="749808"/>
            <a:ext cx="3840480" cy="548640"/>
          </a:xfrm>
          <a:prstGeom prst="rect">
            <a:avLst/>
          </a:prstGeom>
          <a:solidFill>
            <a:srgbClr val="7CBDE2"/>
          </a:solidFill>
          <a:ln w="12700">
            <a:solidFill>
              <a:srgbClr val="7CBD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178808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Price Publication &amp; Distribution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178808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AG + Market  |  UCNew01 – Central Publication (ATLAS)  ·  UCNew02 – Market Distribution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087368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087368" y="1316736"/>
            <a:ext cx="3840480" cy="45720"/>
          </a:xfrm>
          <a:prstGeom prst="rect">
            <a:avLst/>
          </a:prstGeom>
          <a:solidFill>
            <a:srgbClr val="7CBDE2"/>
          </a:solidFill>
          <a:ln w="12700">
            <a:solidFill>
              <a:srgbClr val="7CB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23944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42232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160520" y="1627632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78808" y="165963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0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160520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Transfer Success Rate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60520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78808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transfers ÷ Total price records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160520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UCNew01 — ATLAS is logistics/invoice system (IT001)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123944" y="2572207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60520" y="2604211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78808" y="2636215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97680" y="2604211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160520" y="2796235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Activation Lead Time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160520" y="3033979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78808" y="3033979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approval → live in market system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160520" y="3253435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same day — measured per market per change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123944" y="354878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60520" y="3580790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78808" y="3612794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97680" y="358079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4160520" y="377281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Execution Accuracy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60520" y="401055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78808" y="401055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at correct price ÷ Total invoices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160520" y="423001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UCNew01 — enable offer &amp; invoice execution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123944" y="452536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0520" y="4557370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178808" y="458937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97680" y="455737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4160520" y="474939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Distribution Completeness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60520" y="498713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78808" y="498713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with current price list ÷ Total markets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160520" y="520659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UCNew02 — all ~100 markets must receive updates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123944" y="5501945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5533949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78808" y="5565953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97680" y="5533949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4160520" y="5725973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Date Synchronization Rate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160520" y="5963717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78808" y="5963717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with aligned validity dates ÷ Total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160520" y="6183173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UCNew02 — Faktura system sync confirmation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991856" y="749808"/>
            <a:ext cx="3840480" cy="548640"/>
          </a:xfrm>
          <a:prstGeom prst="rect">
            <a:avLst/>
          </a:prstGeom>
          <a:solidFill>
            <a:srgbClr val="A0CFE9"/>
          </a:solidFill>
          <a:ln w="12700">
            <a:solidFill>
              <a:srgbClr val="A0CFE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8083296" y="749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Audit, History &amp; Compliance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8083296" y="10789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AG + Market  |  UCNew03 – Audit &amp; Historization  ·  UC006 (cross)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991856" y="1316736"/>
            <a:ext cx="38404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7991856" y="1316736"/>
            <a:ext cx="3840480" cy="45720"/>
          </a:xfrm>
          <a:prstGeom prst="rect">
            <a:avLst/>
          </a:prstGeom>
          <a:solidFill>
            <a:srgbClr val="A0CFE9"/>
          </a:solidFill>
          <a:ln w="12700">
            <a:solidFill>
              <a:srgbClr val="A0CFE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28432" y="1380744"/>
            <a:ext cx="3767328" cy="20116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46720" y="13807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Type    KPI Name  |  Formula  |  BMW Use Case Link  |  Benchmark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8065008" y="1627632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83296" y="165963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02168" y="162763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8065008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Retention Compliance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8065008" y="205740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83296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retrievable price history vs. 15yr target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8065008" y="2276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UCNew03 — BMW target: 15 years price history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8028432" y="2409444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65008" y="2441448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083296" y="247345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02168" y="2441448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8065008" y="263347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Completeness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065008" y="2871216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083296" y="287121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with full log (user+timestamp+reason) ÷ Total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8065008" y="3090672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UCNew03 — log user, timestamp, approvals (100%)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8028432" y="3223260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065008" y="3255264"/>
            <a:ext cx="475488" cy="173736"/>
          </a:xfrm>
          <a:prstGeom prst="rect">
            <a:avLst/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083296" y="3287268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02168" y="3255264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8065008" y="344728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 Clearance Rate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8065008" y="3685032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083296" y="368503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items ÷ Total worklist items per week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8065008" y="390448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 — uncleared = wrong prices live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8028432" y="4037076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65008" y="4069080"/>
            <a:ext cx="475488" cy="173736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83296" y="410108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202168" y="406908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8065008" y="426110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4-Eyes Approval Compliance Rate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065008" y="4498848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083296" y="44988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via workflow ÷ All threshold changes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8065008" y="471830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KPI — zero exceptions permitted (FC003)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8028432" y="4850892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065008" y="4882896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083296" y="4914900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202168" y="4882896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8065008" y="507492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EBIT Margin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8065008" y="5312664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083296" y="531266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EBIT ÷ Aftersales Revenue × 100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065008" y="553212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KPI — McKinsey benchmark: ~25%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028432" y="5664708"/>
            <a:ext cx="3767328" cy="9144"/>
          </a:xfrm>
          <a:prstGeom prst="rect">
            <a:avLst/>
          </a:prstGeom>
          <a:solidFill>
            <a:srgbClr val="E0EAF8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065008" y="5696712"/>
            <a:ext cx="475488" cy="173736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083296" y="5728716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202168" y="569671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8065008" y="588873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Market Share Capture Rate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8065008" y="6126480"/>
            <a:ext cx="3675888" cy="201168"/>
          </a:xfrm>
          <a:prstGeom prst="rect">
            <a:avLst/>
          </a:prstGeom>
          <a:solidFill>
            <a:srgbClr val="EEF4FB"/>
          </a:solidFill>
          <a:ln w="5080">
            <a:solidFill>
              <a:srgbClr val="C8DDE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083296" y="612648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5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genuine ÷ Total repair spend on BMW fleet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065008" y="634593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competitive effectiveness indicator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 Advisory  ·  BMW Aftersales Pricing KPI Framework  ·  CONFIDENTIAL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ThinkCell Import Reference — All KPIs × BMW Pricing Process Stage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731520"/>
          <a:ext cx="11978640" cy="274320"/>
        </p:xfrm>
        <a:graphic>
          <a:graphicData uri="http://schemas.openxmlformats.org/drawingml/2006/table">
            <a:tbl>
              <a:tblPr/>
              <a:tblGrid>
                <a:gridCol w="256032"/>
                <a:gridCol w="1874520"/>
                <a:gridCol w="749808"/>
                <a:gridCol w="2240280"/>
                <a:gridCol w="2331720"/>
                <a:gridCol w="96012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Process Stage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 Name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 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Context / Benchmark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024128"/>
          <a:ext cx="11978640" cy="914400"/>
        </p:xfrm>
        <a:graphic>
          <a:graphicData uri="http://schemas.openxmlformats.org/drawingml/2006/table">
            <a:tbl>
              <a:tblPr/>
              <a:tblGrid>
                <a:gridCol w="256032"/>
                <a:gridCol w="1874520"/>
                <a:gridCol w="749808"/>
                <a:gridCol w="2240280"/>
                <a:gridCol w="2331720"/>
                <a:gridCol w="960120"/>
                <a:gridCol w="4114800"/>
              </a:tblGrid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B3A6B"/>
                          </a:solidFill>
                        </a:rPr>
                        <a:t>1 – Price Structure Definition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Family Code Coverage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Parts in FC ÷ Total active parts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Target 100% — unassigned = unpriced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B3A6B"/>
                          </a:solidFill>
                        </a:rPr>
                        <a:t>1 – Price Structure Definition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Willingness-to-Pay Index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RET ÷ Vehicle residual value segment avg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Core of BMW segmentation logic per UC001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B3A6B"/>
                          </a:solidFill>
                        </a:rPr>
                        <a:t>1 – Price Structure Definition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Segmentation Accuracy Score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Correctly segmented (audit) ÷ Sample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Quality driver for all downstream prices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B3A6B"/>
                          </a:solidFill>
                        </a:rPr>
                        <a:t>1 – Price Structure Definition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Profit Threshold Definition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Min CM% set per family code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Four-eyes approval trigger level (FC003)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B3A6B"/>
                          </a:solidFill>
                        </a:rPr>
                        <a:t>1 – Price Structure Definition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Price Structure Approval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Approved structures ÷ Submitted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Governance KPI for UC001 sign-off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E5C9B"/>
                          </a:solidFill>
                        </a:rPr>
                        <a:t>2 – Initial Price Creation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New Part Pricing Cycle Time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Avg seconds: part release → valid price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BMW explicit target: &lt;30 seconds (FC016)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E5C9B"/>
                          </a:solidFill>
                        </a:rPr>
                        <a:t>2 – Initial Price Creation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Ex-Factory Cost / RET 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Cost ÷ RET × 100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Absolute floor — must always be &lt;100%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8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E5C9B"/>
                          </a:solidFill>
                        </a:rPr>
                        <a:t>2 – Initial Price Creation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Gross Profit % (GP%)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(RET − Ex-Factory) ÷ RET × 100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Benchmark: &gt;30% for automotive OEM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9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E5C9B"/>
                          </a:solidFill>
                        </a:rPr>
                        <a:t>2 – Initial Price Creation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Contribution Margin % (CM%)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(RET − Variable Cost) ÷ RET × 100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Primary pricing KPI; triggers 4-eyes above threshold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E5C9B"/>
                          </a:solidFill>
                        </a:rPr>
                        <a:t>2 – Initial Price Creation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Price Proposal Acceptance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System proposals accepted ÷ Generated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Measures segmentation &amp; structure quality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E5C9B"/>
                          </a:solidFill>
                        </a:rPr>
                        <a:t>2 – Initial Price Creation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Upload Error Rate (Preis-Upload)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Rejected records ÷ Total uploaded (UC004)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Target &lt;1% — data quality indicator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167AE"/>
                          </a:solidFill>
                        </a:rPr>
                        <a:t>3 – Central Price Adjustments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Lump Sum Pass-Through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Markets applied ÷ Markets notified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Annual inflation compensation KPI (UC005)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167AE"/>
                          </a:solidFill>
                        </a:rPr>
                        <a:t>3 – Central Price Adjustments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Profit Threshold Violation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Parts below min CM ÷ Total parts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Zero-tolerance target — triggers mandatory review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167AE"/>
                          </a:solidFill>
                        </a:rPr>
                        <a:t>3 – Central Price Adjustments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Inflation Coverage %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Lump sum % vs. actual YoY cost inflation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Measures real price erosion prevention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167AE"/>
                          </a:solidFill>
                        </a:rPr>
                        <a:t>3 – Central Price Adjustments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Central Approval Cycle Time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Days: price change submitted → approved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Governance efficiency KPI (FC003)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16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167AE"/>
                          </a:solidFill>
                        </a:rPr>
                        <a:t>3 – Central Price Adjustments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Reporting Completeness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Required reports generated ÷ Scheduled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UC006 — data availability for steering decisions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E75B6"/>
                          </a:solidFill>
                        </a:rPr>
                        <a:t>4 – AG → Market Handover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 Notification Lead Time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Hours: AG price set → PRIMUS worklist entry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Measures Confluent/Kafka integration SLA (IT002)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18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E75B6"/>
                          </a:solidFill>
                        </a:rPr>
                        <a:t>4 – AG → Market Handover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Worklist Population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Markets notified ÷ Markets in scope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100% target — no market left without trigger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19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E75B6"/>
                          </a:solidFill>
                        </a:rPr>
                        <a:t>4 – AG → Market Handover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Price Structure Transfer Accuracy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Correctly transferred rules ÷ Total rules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Family code + segment rules must transfer intact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2E75B6"/>
                          </a:solidFill>
                        </a:rPr>
                        <a:t>4 – AG → Market Handover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 Enablement Completeness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Markets with full governance params ÷ Total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UCNew02 — all retail factors, BD, rounding rules set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A8FD1"/>
                          </a:solidFill>
                        </a:rPr>
                        <a:t>5 – Market Price Derivation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 Retail Price (MRP)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Central RET × Retail Factor (by Family Code)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Core market output KPI (UC007)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A8FD1"/>
                          </a:solidFill>
                        </a:rPr>
                        <a:t>5 – Market Price Derivation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 Dealer Net (MDN)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MRP − Base Difference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Defines dealer purchase price (UC007)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A8FD1"/>
                          </a:solidFill>
                        </a:rPr>
                        <a:t>5 – Market Price Derivation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Exchange Rate Lag Impact (CM Δ)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CM loss from outdated FX rates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UC012 — system rate vs. budget rate delta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A8FD1"/>
                          </a:solidFill>
                        </a:rPr>
                        <a:t>5 – Market Price Derivation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Rounding Compliance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Correctly rounded prices ÷ Total market prices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UC011 — different rounding rules per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A8FD1"/>
                          </a:solidFill>
                        </a:rPr>
                        <a:t>5 – Market Price Derivation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Local Margin Simulation Accuracy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Simulated GP% vs. actual GP% after activation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UC007 — margin simulation before setting live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26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A8FD1"/>
                          </a:solidFill>
                        </a:rPr>
                        <a:t>5 – Market Price Derivation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Deposit (Pfand) Coverage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Parts with deposit prices set ÷ Eligible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UC009 (Market) — must mirror central deposit (UC009 AG)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4FA0D8"/>
                          </a:solidFill>
                        </a:rPr>
                        <a:t>6 – Market Price Changes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NSC Gross Profit % (GP Floor)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(MRP − MDN) ÷ MRP × 100 vs. min threshold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PRIMARY market alert trigger in PRIMUS (FC023)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28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4FA0D8"/>
                          </a:solidFill>
                        </a:rPr>
                        <a:t>6 – Market Price Changes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Competitive Price Index (CPI)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BMW MRP ÷ Best IAM price × 100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Competition trigger — CPI &lt;110 = at risk (FC012)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29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4FA0D8"/>
                          </a:solidFill>
                        </a:rPr>
                        <a:t>6 – Market Price Changes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Manual Price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Manually priced parts ÷ Total market parts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High rate = retail factor misfit for family code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4FA0D8"/>
                          </a:solidFill>
                        </a:rPr>
                        <a:t>6 – Market Price Changes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Price Change Approval Cycle Time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Days: trigger flagged → approved price live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 governance KPI (FC022)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4FA0D8"/>
                          </a:solidFill>
                        </a:rPr>
                        <a:t>6 – Market Price Changes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Volume Impact Simulation Accuracy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Simulated volume Δ vs. actual after change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UC008 — simulate margin &amp; volume before approval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4FA0D8"/>
                          </a:solidFill>
                        </a:rPr>
                        <a:t>6 – Market Price Changes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Future Validity Scheduling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Changes with future date set ÷ Total changes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UC008 — schedule future validity (no retroactive prices)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3AFDD"/>
                          </a:solidFill>
                        </a:rPr>
                        <a:t>7 – Campaigns &amp; Special Prices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Campaign Price Restoration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Auto-restored ÷ Expired campaign prices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UC010 — auto-revert after expiry is critical (UC 3.10)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3AFDD"/>
                          </a:solidFill>
                        </a:rPr>
                        <a:t>7 – Campaigns &amp; Special Prices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Special Customer Discount %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(List − Special Price) ÷ List × 100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UC013 — by group: importer/authority/industry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3AFDD"/>
                          </a:solidFill>
                        </a:rPr>
                        <a:t>7 – Campaigns &amp; Special Prices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Customer Margin Compliance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Special prices above min margin ÷ Total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UC013 — monitor customer margins (FC022)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36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3AFDD"/>
                          </a:solidFill>
                        </a:rPr>
                        <a:t>7 – Campaigns &amp; Special Prices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Campaign Activation Lead Time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Hours: campaign created → live in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UC010 — time from setup to customer-facing price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63AFDD"/>
                          </a:solidFill>
                        </a:rPr>
                        <a:t>7 – Campaigns &amp; Special Prices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Customer Scope Coverage %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Eligible customers with active price list ÷ Total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UC013 — control scope &amp; eligibility completeness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38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7CBDE2"/>
                          </a:solidFill>
                        </a:rPr>
                        <a:t>8 – Price Publication &amp; Distribution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ATLAS Transfer Success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Successful transfers ÷ Total price records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UCNew01 — ATLAS is logistics/invoice system (IT001)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39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7CBDE2"/>
                          </a:solidFill>
                        </a:rPr>
                        <a:t>8 – Price Publication &amp; Distribution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Price Activation Lead Time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Days: approval → live in market system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Target same day — measured per market per change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7CBDE2"/>
                          </a:solidFill>
                        </a:rPr>
                        <a:t>8 – Price Publication &amp; Distribution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Invoice Execution Accuracy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Invoices at correct price ÷ Total invoices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UCNew01 — enable offer &amp; invoice execution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7CBDE2"/>
                          </a:solidFill>
                        </a:rPr>
                        <a:t>8 – Price Publication &amp; Distribution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 Distribution Completeness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Markets with current price list ÷ Total markets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UCNew02 — all ~100 markets must receive updates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7CBDE2"/>
                          </a:solidFill>
                        </a:rPr>
                        <a:t>8 – Price Publication &amp; Distribution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Validity Date Synchronization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Systems with aligned validity dates ÷ Total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UCNew02 — Faktura system sync confirmation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0CFE9"/>
                          </a:solidFill>
                        </a:rPr>
                        <a:t>9 – Audit, History &amp; Compliance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Price History Retention Compliance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Years of retrievable price history vs. 15yr target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UCNew03 — BMW target: 15 years price history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0CFE9"/>
                          </a:solidFill>
                        </a:rPr>
                        <a:t>9 – Audit, History &amp; Compliance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Audit Trail Completeness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Changes with full log (user+timestamp+reason) ÷ Total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UCNew03 — log user, timestamp, approvals (100%)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0CFE9"/>
                          </a:solidFill>
                        </a:rPr>
                        <a:t>9 – Audit, History &amp; Compliance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Worklist Clearance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Resolved items ÷ Total worklist items per week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A580C"/>
                          </a:solidFill>
                        </a:rPr>
                        <a:t>Operational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Operational health — uncleared = wrong prices live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46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0CFE9"/>
                          </a:solidFill>
                        </a:rPr>
                        <a:t>9 – Audit, History &amp; Compliance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4-Eyes Approval Compliance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Approved via workflow ÷ All threshold changes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Mgmt/Steering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Governance KPI — zero exceptions permitted (FC003)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47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0CFE9"/>
                          </a:solidFill>
                        </a:rPr>
                        <a:t>9 – Audit, History &amp; Compliance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Aftersales EBIT Margin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Aftersales EBIT ÷ Aftersales Revenue × 100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Strategic KPI — McKinsey benchmark: ~25%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4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2A4A"/>
                          </a:solidFill>
                        </a:rPr>
                        <a:t>48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A0CFE9"/>
                          </a:solidFill>
                        </a:rPr>
                        <a:t>9 – Audit, History &amp; Compliance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AG + Market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IAM Market Share Capture Rate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BMW genuine ÷ Total repair spend on BMW fleet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A56DB"/>
                          </a:solidFill>
                        </a:rPr>
                        <a:t>Data/Modelling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B2A4A"/>
                          </a:solidFill>
                        </a:rPr>
                        <a:t>Primary competitive effectiveness indicator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ThinkCell: Use 'Process Stage' as category axis · 'KPI Type' as series color · map numeric target values as data points · Use waterfall chart type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2026-02-17T12:29:25Z</dcterms:created>
  <dcterms:modified xsi:type="dcterms:W3CDTF">2026-02-17T12:29:25Z</dcterms:modified>
</cp:coreProperties>
</file>